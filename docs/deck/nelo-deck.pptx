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d6bcc3b-69c8-6947-ec9a-4cabd8b6b7b3}">
          <p14:sldIdLst>
            <p14:sldId id="256"/>
          </p14:sldIdLst>
        </p14:section>
        <p14:section name="Problem" id="{28e1e0a1-84b8-0d6b-71bb-877fe1ad2d9e}">
          <p14:sldIdLst>
            <p14:sldId id="257"/>
            <p14:sldId id="258"/>
          </p14:sldIdLst>
        </p14:section>
        <p14:section name="Product" id="{2888e25c-3578-2ab3-3d6b-60dfed5c54ce}">
          <p14:sldIdLst>
            <p14:sldId id="259"/>
            <p14:sldId id="260"/>
          </p14:sldIdLst>
        </p14:section>
        <p14:section name="Proof" id="{b317f663-dcf2-dfd0-b385-67e8ee5945ee}">
          <p14:sldIdLst>
            <p14:sldId id="261"/>
            <p14:sldId id="262"/>
          </p14:sldIdLst>
        </p14:section>
        <p14:section name="Business" id="{308d4d08-b7fc-b90c-cc4d-d06fde61421c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lose" id="{8c984572-f32f-ae5d-d7c8-bddfa73f3090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1D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1D1F"/>
                </a:solidFill>
                <a:latin typeface="+mn-lt"/>
              </a:rPr>
              <a:t>Business payment volume through nelo, per month (businesses live)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volume through nelo, per month</c:v>
                </c:pt>
              </c:strCache>
            </c:strRef>
          </c:tx>
          <c:spPr>
            <a:solidFill>
              <a:srgbClr val="0A62D0"/>
            </a:solidFill>
            <a:effectLst/>
          </c:spPr>
          <c:invertIfNegative val="0"/>
          <c:dLbls>
            <c:numFmt formatCode="&quot;$&quot;#,##0,&quot;k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D1D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 1 · 25</c:v>
                  </c:pt>
                  <c:pt idx="1">
                    <c:v>Month 2 · 60</c:v>
                  </c:pt>
                  <c:pt idx="2">
                    <c:v>Month 3 · 100</c:v>
                  </c:pt>
                  <c:pt idx="3">
                    <c:v>Month 6 · 180</c:v>
                  </c:pt>
                  <c:pt idx="4">
                    <c:v>Month 12 · 300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268500</c:v>
                </c:pt>
                <c:pt idx="1">
                  <c:v>644400</c:v>
                </c:pt>
                <c:pt idx="2">
                  <c:v>1074000</c:v>
                </c:pt>
                <c:pt idx="3">
                  <c:v>1933200</c:v>
                </c:pt>
                <c:pt idx="4">
                  <c:v>3222000</c:v>
                </c:pt>
              </c:numCache>
            </c:numRef>
          </c:val>
        </c:ser>
        <c:dLbls>
          <c:numFmt formatCode="&quot;$&quot;#,##0,&quot;k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D1D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1D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1D1F"/>
                </a:solidFill>
                <a:latin typeface="+mn-lt"/>
              </a:rPr>
              <a:t>Annual revenue run-rate, $M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volume fees</c:v>
                </c:pt>
              </c:strCache>
            </c:strRef>
          </c:tx>
          <c:spPr>
            <a:solidFill>
              <a:srgbClr val="0A62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</c:v>
                </c:pt>
                <c:pt idx="1">
                  <c:v>2.39</c:v>
                </c:pt>
                <c:pt idx="2">
                  <c:v>19.93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nelo pay services</c:v>
                </c:pt>
              </c:strCache>
            </c:strRef>
          </c:tx>
          <c:spPr>
            <a:solidFill>
              <a:srgbClr val="C256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</c:v>
                </c:pt>
                <c:pt idx="1">
                  <c:v>0.62</c:v>
                </c:pt>
                <c:pt idx="2">
                  <c:v>7.77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 payments API</c:v>
                </c:pt>
              </c:strCache>
            </c:strRef>
          </c:tx>
          <c:spPr>
            <a:solidFill>
              <a:srgbClr val="9C4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0.04</c:v>
                </c:pt>
                <c:pt idx="2">
                  <c:v>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E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nelo turns any Android phone into a payment terminal on Solana that keeps working offline and pays the business in naira, into its own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 merchant sees is in naira and nothing says the word crypto. They sign up with the wallet they already have and name their bank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brackets from the real run: naira amount, seconds, the cash-out transaction signature and the paj.cash order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90 days are one market cluster, door to door: 25, 60, then 100 businesses. By month 12, 300 businesses across the six categories, with their customers on nelo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payments API: AI agents running on terminals pay and get paid through nelo with spending limits, the same voucher primitive with a machine as the payer.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side is the wedge; nelo pay is where the growth compounds. By year three a third of revenue comes from people, not tills.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Hero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Dark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7665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A1A1A6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96112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nelo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96112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96112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Every business can now take payments </a:t>
            </a:r>
            <a:pPr algn="l" indent="0" marL="0">
              <a:buNone/>
            </a:pPr>
            <a:r>
              <a:rPr lang="en-US" sz="5200" b="1" dirty="0">
                <a:solidFill>
                  <a:srgbClr val="7AB4FF"/>
                </a:solidFill>
              </a:rPr>
              <a:t>on Solana.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A1A1A6"/>
                </a:solidFill>
              </a:rPr>
              <a:t>Even when the network is down.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</a:rPr>
              <a:t>CLOCK IN · a Solana Mobile hackathon presented by Radiants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</a:rPr>
              <a:t>[ Team names and roles ]</a:t>
            </a:r>
            <a:endParaRPr lang="en-US" sz="1300" dirty="0"/>
          </a:p>
        </p:txBody>
      </p:sp>
      <p:sp>
        <p:nvSpPr>
          <p:cNvPr id="5" name="phone payer-shown"/>
          <p:cNvSpPr/>
          <p:nvPr/>
        </p:nvSpPr>
        <p:spPr>
          <a:xfrm>
            <a:off x="7908463" y="1141903"/>
            <a:ext cx="2129740" cy="4391315"/>
          </a:xfrm>
          <a:prstGeom prst="roundRect">
            <a:avLst>
              <a:gd name="adj" fmla="val 12022"/>
            </a:avLst>
          </a:prstGeom>
          <a:solidFill>
            <a:srgbClr val="0B0B0C"/>
          </a:solidFill>
          <a:ln w="12700">
            <a:solidFill>
              <a:srgbClr val="3B4459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6" name="screen payer-show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4440"/>
            <a:ext cx="1944666" cy="4206240"/>
          </a:xfrm>
          <a:prstGeom prst="rect">
            <a:avLst/>
          </a:prstGeom>
        </p:spPr>
      </p:pic>
      <p:sp>
        <p:nvSpPr>
          <p:cNvPr id="7" name="phone merchant-taken"/>
          <p:cNvSpPr/>
          <p:nvPr/>
        </p:nvSpPr>
        <p:spPr>
          <a:xfrm>
            <a:off x="9592056" y="768096"/>
            <a:ext cx="2314935" cy="4773168"/>
          </a:xfrm>
          <a:prstGeom prst="roundRect">
            <a:avLst>
              <a:gd name="adj" fmla="val 11060"/>
            </a:avLst>
          </a:prstGeom>
          <a:solidFill>
            <a:srgbClr val="0B0B0C"/>
          </a:solidFill>
          <a:ln w="12700">
            <a:solidFill>
              <a:srgbClr val="3B4459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8" name="screen merchant-take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868680"/>
            <a:ext cx="2113767" cy="4572000"/>
          </a:xfrm>
          <a:prstGeom prst="rect">
            <a:avLst/>
          </a:prstGeom>
        </p:spPr>
      </p:pic>
      <p:sp>
        <p:nvSpPr>
          <p:cNvPr id="9" name="chip"/>
          <p:cNvSpPr/>
          <p:nvPr/>
        </p:nvSpPr>
        <p:spPr>
          <a:xfrm>
            <a:off x="7589520" y="5257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08392" y="5376672"/>
            <a:ext cx="329184" cy="329184"/>
          </a:xfrm>
          <a:prstGeom prst="ellipse">
            <a:avLst/>
          </a:prstGeom>
          <a:solidFill>
            <a:srgbClr val="2FB36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08392" y="5376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5330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 taken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</a:rPr>
              <a:t>₦2,500 · settles in naira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quarter of card payments fail.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Every afternoon.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548640" y="1965960"/>
            <a:ext cx="4206240" cy="374904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29.23%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POS transactions failed on 15 May 2026: about 157,000 declined in one day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06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46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daily average, reaching 25% at peak hours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035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21488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035040" y="2057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Adaeze sells phone accessories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5603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Her bank terminal took a deposit, a wait, and a fee she never stops noticing. It fails whenever the network drops, which is most afternoons. Then she takes cash, or loses the sale.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303520" y="4069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42062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035040" y="4114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regulator agrees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035040" y="46177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central bank has mandated dual routing with automatic failover, because the single path keeps breaking. The same is true in Buenos Aires, Manila, Karachi and Lima.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Nigerian POS failure-rate reporting, 2026 · CBN dual-routing directive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Why now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Two things landed last year. </a:t>
            </a:r>
            <a:pPr algn="l" indent="0" marL="0">
              <a:buNone/>
            </a:pPr>
            <a:r>
              <a:rPr lang="en-US" sz="3200" b="1" dirty="0">
                <a:solidFill>
                  <a:srgbClr val="A1A1A6"/>
                </a:solidFill>
              </a:rPr>
              <a:t>Nobody had put them together.</a:t>
            </a:r>
            <a:endParaRPr lang="en-US" sz="3200" dirty="0"/>
          </a:p>
        </p:txBody>
      </p:sp>
      <p:sp>
        <p:nvSpPr>
          <p:cNvPr id="4" name="glass card"/>
          <p:cNvSpPr/>
          <p:nvPr/>
        </p:nvSpPr>
        <p:spPr>
          <a:xfrm>
            <a:off x="548640" y="2011680"/>
            <a:ext cx="5394960" cy="2743200"/>
          </a:xfrm>
          <a:prstGeom prst="roundRect">
            <a:avLst>
              <a:gd name="adj" fmla="val 7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4825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359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June 2025 · Solana mainnet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79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The secp256r1 precompile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4290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</a:rPr>
              <a:t>A Solana program can natively verify a P-256 signature on chain.</a:t>
            </a:r>
            <a:endParaRPr lang="en-US" sz="1600" dirty="0"/>
          </a:p>
        </p:txBody>
      </p:sp>
      <p:sp>
        <p:nvSpPr>
          <p:cNvPr id="10" name="glass card"/>
          <p:cNvSpPr/>
          <p:nvPr/>
        </p:nvSpPr>
        <p:spPr>
          <a:xfrm>
            <a:off x="6217920" y="2011680"/>
            <a:ext cx="5394960" cy="2743200"/>
          </a:xfrm>
          <a:prstGeom prst="roundRect">
            <a:avLst>
              <a:gd name="adj" fmla="val 7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33172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48259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359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Every modern Android phone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679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Secure chips sign P-256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4290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</a:rPr>
              <a:t>The one curve Android's secure hardware supports everywhere, the curve behind passkeys.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074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The phone's secure chip signs. Solana verifies. No trusted server sits in the path of the money.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1A1A6"/>
                </a:solidFill>
              </a:rPr>
              <a:t>SIMD-0075 · Android hardware-backed Keystore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product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payment terminal.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With no terminal.</a:t>
            </a:r>
            <a:endParaRPr lang="en-US" sz="3200" dirty="0"/>
          </a:p>
        </p:txBody>
      </p:sp>
      <p:sp>
        <p:nvSpPr>
          <p:cNvPr id="4" name="phone merchant-charge"/>
          <p:cNvSpPr/>
          <p:nvPr/>
        </p:nvSpPr>
        <p:spPr>
          <a:xfrm>
            <a:off x="601309" y="1881469"/>
            <a:ext cx="1944546" cy="4009461"/>
          </a:xfrm>
          <a:prstGeom prst="roundRect">
            <a:avLst>
              <a:gd name="adj" fmla="val 13167"/>
            </a:avLst>
          </a:prstGeom>
          <a:solidFill>
            <a:srgbClr val="0B0B0C"/>
          </a:solidFill>
          <a:ln w="12700">
            <a:solidFill>
              <a:srgbClr val="3B4459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screen merchant-char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1775564" cy="3840480"/>
          </a:xfrm>
          <a:prstGeom prst="rect">
            <a:avLst/>
          </a:prstGeom>
        </p:spPr>
      </p:pic>
      <p:sp>
        <p:nvSpPr>
          <p:cNvPr id="6" name="phone payer-confirm"/>
          <p:cNvSpPr/>
          <p:nvPr/>
        </p:nvSpPr>
        <p:spPr>
          <a:xfrm>
            <a:off x="2887309" y="1881469"/>
            <a:ext cx="1944546" cy="4009461"/>
          </a:xfrm>
          <a:prstGeom prst="roundRect">
            <a:avLst>
              <a:gd name="adj" fmla="val 13167"/>
            </a:avLst>
          </a:prstGeom>
          <a:solidFill>
            <a:srgbClr val="0B0B0C"/>
          </a:solidFill>
          <a:ln w="12700">
            <a:solidFill>
              <a:srgbClr val="3B4459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7" name="screen payer-confir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965960"/>
            <a:ext cx="1775564" cy="3840480"/>
          </a:xfrm>
          <a:prstGeom prst="rect">
            <a:avLst/>
          </a:prstGeom>
        </p:spPr>
      </p:pic>
      <p:sp>
        <p:nvSpPr>
          <p:cNvPr id="8" name="product row"/>
          <p:cNvSpPr/>
          <p:nvPr/>
        </p:nvSpPr>
        <p:spPr>
          <a:xfrm>
            <a:off x="5486400" y="1874520"/>
            <a:ext cx="6126480" cy="1234440"/>
          </a:xfrm>
          <a:prstGeom prst="roundRect">
            <a:avLst>
              <a:gd name="adj" fmla="val 16296"/>
            </a:avLst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0" y="2194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33629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nelo for business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492240" y="22585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till, in your pocket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26060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Charge in naira; any Solana wallet or nelo pay can pay. Cash out to the bank in about 20 seconds.</a:t>
            </a:r>
            <a:endParaRPr lang="en-US" sz="1200" dirty="0"/>
          </a:p>
        </p:txBody>
      </p:sp>
      <p:sp>
        <p:nvSpPr>
          <p:cNvPr id="14" name="product row"/>
          <p:cNvSpPr/>
          <p:nvPr/>
        </p:nvSpPr>
        <p:spPr>
          <a:xfrm>
            <a:off x="5486400" y="3246120"/>
            <a:ext cx="6126480" cy="1234440"/>
          </a:xfrm>
          <a:prstGeom prst="roundRect">
            <a:avLst>
              <a:gd name="adj" fmla="val 16296"/>
            </a:avLst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0" y="35661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370789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Offline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492240" y="36301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Even with no internet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492240" y="3977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Both phones in airplane mode, the sale still completes, and settles itself when the till reconnects.</a:t>
            </a:r>
            <a:endParaRPr lang="en-US" sz="1200" dirty="0"/>
          </a:p>
        </p:txBody>
      </p:sp>
      <p:sp>
        <p:nvSpPr>
          <p:cNvPr id="20" name="product row"/>
          <p:cNvSpPr/>
          <p:nvPr/>
        </p:nvSpPr>
        <p:spPr>
          <a:xfrm>
            <a:off x="5486400" y="4617720"/>
            <a:ext cx="6126480" cy="1234440"/>
          </a:xfrm>
          <a:prstGeom prst="roundRect">
            <a:avLst>
              <a:gd name="adj" fmla="val 16296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5715000" y="49377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507949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9224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nelo pay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492240" y="5001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 your customers, and their friends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92240" y="53492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Pay a business, pay a friend, offline or online. The same voucher settles both.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Offline is a prepaid balance,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not a promise to pay.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85800" cy="685800"/>
          </a:xfrm>
          <a:prstGeom prst="ellipse">
            <a:avLst/>
          </a:prstGeom>
          <a:solidFill>
            <a:srgbClr val="0A6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308860"/>
            <a:ext cx="1307592" cy="0"/>
          </a:xfrm>
          <a:prstGeom prst="line">
            <a:avLst/>
          </a:prstGeom>
          <a:noFill/>
          <a:ln w="25400">
            <a:solidFill>
              <a:srgbClr val="D2D2D7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Lock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payer sets USDC aside in an on-chain vault while online. Nothing offline can exceed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685800" cy="685800"/>
          </a:xfrm>
          <a:prstGeom prst="ellipse">
            <a:avLst/>
          </a:prstGeom>
          <a:solidFill>
            <a:srgbClr val="3E58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1635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39312" y="2308860"/>
            <a:ext cx="1307592" cy="0"/>
          </a:xfrm>
          <a:prstGeom prst="line">
            <a:avLst/>
          </a:prstGeom>
          <a:noFill/>
          <a:ln w="25400">
            <a:solidFill>
              <a:srgbClr val="D2D2D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816352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Sign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816352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phone's secure chip signs a payment voucher with a key that never leaves the hardware.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84064" y="1965960"/>
            <a:ext cx="685800" cy="685800"/>
          </a:xfrm>
          <a:prstGeom prst="ellipse">
            <a:avLst/>
          </a:prstGeom>
          <a:solidFill>
            <a:srgbClr val="9C4FC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84064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07024" y="2308860"/>
            <a:ext cx="1307592" cy="0"/>
          </a:xfrm>
          <a:prstGeom prst="line">
            <a:avLst/>
          </a:prstGeom>
          <a:noFill/>
          <a:ln w="25400">
            <a:solidFill>
              <a:srgbClr val="D2D2D7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84064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Hand over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QR, both ways. Neither phone has a network. The till checks the signature on the spot.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51776" y="1965960"/>
            <a:ext cx="685800" cy="685800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51776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74736" y="2308860"/>
            <a:ext cx="1307592" cy="0"/>
          </a:xfrm>
          <a:prstGeom prst="line">
            <a:avLst/>
          </a:prstGeom>
          <a:noFill/>
          <a:ln w="25400">
            <a:solidFill>
              <a:srgbClr val="D2D2D7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51776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Adjudicate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 reconnect, Solana verifies the signature and refuses any reused sequence.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19488" y="1965960"/>
            <a:ext cx="685800" cy="685800"/>
          </a:xfrm>
          <a:prstGeom prst="ellipse">
            <a:avLst/>
          </a:prstGeom>
          <a:solidFill>
            <a:srgbClr val="C2560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19488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Settle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619488" y="3291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USDC moves to the business. nelo's relayer pays the fee; the merchant signs nothing.</a:t>
            </a:r>
            <a:endParaRPr lang="en-US" sz="1400" dirty="0"/>
          </a:p>
        </p:txBody>
      </p:sp>
      <p:sp>
        <p:nvSpPr>
          <p:cNvPr id="28" name="guarantees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Solvency is on chain before the sale  ·  a replayed voucher is refused for everyone  ·  withdrawals are time-locked  ·  a double spend freezes the vault and slashes its stake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It ran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real sale. </a:t>
            </a:r>
            <a:pPr algn="l" indent="0" marL="0">
              <a:buNone/>
            </a:pPr>
            <a:r>
              <a:rPr lang="en-US" sz="3200" b="1" dirty="0">
                <a:solidFill>
                  <a:srgbClr val="A1A1A6"/>
                </a:solidFill>
              </a:rPr>
              <a:t>Then real naira in a real bank account.</a:t>
            </a:r>
            <a:endParaRPr lang="en-US" sz="3200" dirty="0"/>
          </a:p>
        </p:txBody>
      </p:sp>
      <p:sp>
        <p:nvSpPr>
          <p:cNvPr id="4" name="proof card"/>
          <p:cNvSpPr/>
          <p:nvPr/>
        </p:nvSpPr>
        <p:spPr>
          <a:xfrm>
            <a:off x="548640" y="2011680"/>
            <a:ext cx="3474720" cy="2743200"/>
          </a:xfrm>
          <a:prstGeom prst="roundRect">
            <a:avLst>
              <a:gd name="adj" fmla="val 7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Offline sale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Settled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Two phones in airplane mode; settled on reconnect through the relayer</a:t>
            </a:r>
            <a:endParaRPr lang="en-US" sz="1400" dirty="0"/>
          </a:p>
        </p:txBody>
      </p:sp>
      <p:sp>
        <p:nvSpPr>
          <p:cNvPr id="8" name="proof card"/>
          <p:cNvSpPr/>
          <p:nvPr/>
        </p:nvSpPr>
        <p:spPr>
          <a:xfrm>
            <a:off x="4297680" y="2011680"/>
            <a:ext cx="3474720" cy="2743200"/>
          </a:xfrm>
          <a:prstGeom prst="roundRect">
            <a:avLst>
              <a:gd name="adj" fmla="val 7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1A1A6"/>
                </a:solidFill>
              </a:rPr>
              <a:t>Double spend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Refused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520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A voucher shown twice was refused; a forged second voucher froze the vault</a:t>
            </a:r>
            <a:endParaRPr lang="en-US" sz="1400" dirty="0"/>
          </a:p>
        </p:txBody>
      </p:sp>
      <p:sp>
        <p:nvSpPr>
          <p:cNvPr id="12" name="proof card"/>
          <p:cNvSpPr/>
          <p:nvPr/>
        </p:nvSpPr>
        <p:spPr>
          <a:xfrm>
            <a:off x="8046720" y="2011680"/>
            <a:ext cx="3474720" cy="2743200"/>
          </a:xfrm>
          <a:prstGeom prst="roundRect">
            <a:avLst>
              <a:gd name="adj" fmla="val 7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Mainnet cash-out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₦[amount]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520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USDC on Solana mainnet to paj.cash, in a Nigerian bank in about [N] seconds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Mainnet transaction: [signature]   ·   paj.cash order: [order id]   ·   Vault program (devnet): [program id]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1A1A6"/>
                </a:solidFill>
              </a:rPr>
              <a:t>Signed release APKs on two Android phones · cash-out on Solana mainnet · offline payments on devnet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a phone, why Solana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Neither half of this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works anywhere else.</a:t>
            </a:r>
            <a:endParaRPr lang="en-US" sz="3200" dirty="0"/>
          </a:p>
        </p:txBody>
      </p:sp>
      <p:sp>
        <p:nvSpPr>
          <p:cNvPr id="4" name="why card"/>
          <p:cNvSpPr/>
          <p:nvPr/>
        </p:nvSpPr>
        <p:spPr>
          <a:xfrm>
            <a:off x="548640" y="1920240"/>
            <a:ext cx="5394960" cy="27432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304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Only on a phone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63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It needs a secure chip and a camera in the same hand at the same moment. There is no web version, and no way to bolt this onto a payment afterwards.</a:t>
            </a:r>
            <a:endParaRPr lang="en-US" sz="1500" dirty="0"/>
          </a:p>
        </p:txBody>
      </p:sp>
      <p:sp>
        <p:nvSpPr>
          <p:cNvPr id="9" name="why card"/>
          <p:cNvSpPr/>
          <p:nvPr/>
        </p:nvSpPr>
        <p:spPr>
          <a:xfrm>
            <a:off x="6217920" y="1920240"/>
            <a:ext cx="5394960" cy="27432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9456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3591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304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Only on Solana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063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secp256r1 precompile checks the secure chip's signature on chain. Sub-cent fees and sub-second finality make a ₦2,500 sale worth settling.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983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~35%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global on-chain stablecoin transfers by count already run on Solana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Market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$1.4T moves on phones.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Year one: 300 businesses.</a:t>
            </a:r>
            <a:endParaRPr lang="en-US" sz="3200" dirty="0"/>
          </a:p>
        </p:txBody>
      </p:sp>
      <p:sp>
        <p:nvSpPr>
          <p:cNvPr id="4" name="TAM tier"/>
          <p:cNvSpPr/>
          <p:nvPr/>
        </p:nvSpPr>
        <p:spPr>
          <a:xfrm>
            <a:off x="548640" y="1874520"/>
            <a:ext cx="5669280" cy="960120"/>
          </a:xfrm>
          <a:prstGeom prst="roundRect">
            <a:avLst>
              <a:gd name="adj" fmla="val 19048"/>
            </a:avLst>
          </a:prstGeom>
          <a:solidFill>
            <a:srgbClr val="0A6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TAM  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$1.4T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0487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Mobile money transaction value, Sub-Saharan Africa, 2025</a:t>
            </a:r>
            <a:endParaRPr lang="en-US" sz="1100" dirty="0"/>
          </a:p>
        </p:txBody>
      </p:sp>
      <p:sp>
        <p:nvSpPr>
          <p:cNvPr id="7" name="SAM tier"/>
          <p:cNvSpPr/>
          <p:nvPr/>
        </p:nvSpPr>
        <p:spPr>
          <a:xfrm>
            <a:off x="1097280" y="2944368"/>
            <a:ext cx="4572000" cy="960120"/>
          </a:xfrm>
          <a:prstGeom prst="roundRect">
            <a:avLst>
              <a:gd name="adj" fmla="val 19048"/>
            </a:avLst>
          </a:prstGeom>
          <a:solidFill>
            <a:srgbClr val="9C4FC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0175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SAM  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$42B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4747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≈3% of TAM: in-person business payments, Nigeria first, then the 9+ currencies UseAzza pays out in</a:t>
            </a:r>
            <a:endParaRPr lang="en-US" sz="1100" dirty="0"/>
          </a:p>
        </p:txBody>
      </p:sp>
      <p:sp>
        <p:nvSpPr>
          <p:cNvPr id="10" name="SOM tier"/>
          <p:cNvSpPr/>
          <p:nvPr/>
        </p:nvSpPr>
        <p:spPr>
          <a:xfrm>
            <a:off x="1645920" y="4014216"/>
            <a:ext cx="3474720" cy="960120"/>
          </a:xfrm>
          <a:prstGeom prst="roundRect">
            <a:avLst>
              <a:gd name="adj" fmla="val 19048"/>
            </a:avLst>
          </a:prstGeom>
          <a:solidFill>
            <a:srgbClr val="C256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74520" y="40873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SOM  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$39.2M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5445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Year one: 300 businesses, 40% of their takings through nelo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we serve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1132" y="2382012"/>
            <a:ext cx="192024" cy="1920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223760" y="2340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Market traders and shops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75120" y="2743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839212"/>
            <a:ext cx="192024" cy="19202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223760" y="27980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Restaurants, food and beverage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75120" y="3200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32" y="3296412"/>
            <a:ext cx="192024" cy="19202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23760" y="3255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Logistics, couriers and taxis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675120" y="36576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3753612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23760" y="37124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Field services and on-site pros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675120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132" y="4210812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41696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Fashion and luxury jewellery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675120" y="4572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4668012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3760" y="4626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Supermarkets, superstores, malls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120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347M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504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active mobile money accounts in Sub-Saharan Africa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297680" y="5120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$650B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4297680" y="5504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stablecoin volume on Solana in one month, Feb 2026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8046720" y="5120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75%</a:t>
            </a:r>
            <a:endParaRPr lang="en-US" sz="2200" dirty="0"/>
          </a:p>
        </p:txBody>
      </p:sp>
      <p:sp>
        <p:nvSpPr>
          <p:cNvPr id="37" name="Text 29"/>
          <p:cNvSpPr txBox="1"/>
          <p:nvPr/>
        </p:nvSpPr>
        <p:spPr>
          <a:xfrm>
            <a:off x="8046720" y="5504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of merchants planning crypto acceptance prefer stablecoins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GSMA State of the Industry 2026 · 2026 Solana stablecoin reporting · Deloitte 2025 merchant survey · SAM and SOM are nelo estimates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Business model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 earn on every payment.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Two sides, one network.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category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daily takings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via nelo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traders and shops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Restaurants, food and beverage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Logistics, couriers and taxis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services and on-site pros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Fashion and luxury jewellery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Supermarkets, superstores, malls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$895 avg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74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Takings: what a business sells in a day. nelo carries 40% of it in year one.</a:t>
            </a:r>
            <a:endParaRPr lang="en-US" sz="1200" dirty="0"/>
          </a:p>
        </p:txBody>
      </p:sp>
      <p:sp>
        <p:nvSpPr>
          <p:cNvPr id="6" name="business side"/>
          <p:cNvSpPr/>
          <p:nvPr/>
        </p:nvSpPr>
        <p:spPr>
          <a:xfrm>
            <a:off x="7498080" y="1828800"/>
            <a:ext cx="4114800" cy="1874520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266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nelo for business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0.61%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803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net on volume: 0.50% fee + 0.50% payout spread, less reserve and Trust Stake rebate</a:t>
            </a:r>
            <a:endParaRPr lang="en-US" sz="1200" dirty="0"/>
          </a:p>
        </p:txBody>
      </p:sp>
      <p:sp>
        <p:nvSpPr>
          <p:cNvPr id="10" name="payer side"/>
          <p:cNvSpPr/>
          <p:nvPr/>
        </p:nvSpPr>
        <p:spPr>
          <a:xfrm>
            <a:off x="7498080" y="3840480"/>
            <a:ext cx="4114800" cy="1874520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nelo pay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251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0.3% – 1.5%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48920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 paying a friend, cash-out, savings, bills and assets. Live today: pay a friend at 0.3%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Illustrative model: every input is a stated assumption, to be replaced with measured numbers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Year one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100 businesses in 90 days.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300 by month 12.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year one stat"/>
          <p:cNvSpPr/>
          <p:nvPr/>
        </p:nvSpPr>
        <p:spPr>
          <a:xfrm>
            <a:off x="7863840" y="1783080"/>
            <a:ext cx="3749040" cy="8046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8745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$1.1M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18745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monthly volume at day 90</a:t>
            </a:r>
            <a:endParaRPr lang="en-US" sz="1200" dirty="0"/>
          </a:p>
        </p:txBody>
      </p:sp>
      <p:sp>
        <p:nvSpPr>
          <p:cNvPr id="8" name="year one stat"/>
          <p:cNvSpPr/>
          <p:nvPr/>
        </p:nvSpPr>
        <p:spPr>
          <a:xfrm>
            <a:off x="7863840" y="2697480"/>
            <a:ext cx="3749040" cy="8046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2440" y="27889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$39.2M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27889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annual volume run-rate at month 12</a:t>
            </a:r>
            <a:endParaRPr lang="en-US" sz="1200" dirty="0"/>
          </a:p>
        </p:txBody>
      </p:sp>
      <p:sp>
        <p:nvSpPr>
          <p:cNvPr id="11" name="year one stat"/>
          <p:cNvSpPr/>
          <p:nvPr/>
        </p:nvSpPr>
        <p:spPr>
          <a:xfrm>
            <a:off x="7863840" y="3611880"/>
            <a:ext cx="3749040" cy="8046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2440" y="37033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12k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784080" y="37033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nelo pay users, ~40 per business</a:t>
            </a:r>
            <a:endParaRPr lang="en-US" sz="1200" dirty="0"/>
          </a:p>
        </p:txBody>
      </p:sp>
      <p:sp>
        <p:nvSpPr>
          <p:cNvPr id="14" name="year one stat"/>
          <p:cNvSpPr/>
          <p:nvPr/>
        </p:nvSpPr>
        <p:spPr>
          <a:xfrm>
            <a:off x="7863840" y="4526280"/>
            <a:ext cx="3749040" cy="8046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2440" y="46177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$256k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784080" y="46177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annual revenue run-rate, both apps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$895 blended daily takings · 40% through nelo · 0.61% net on business volume · illustrative, not a forecast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From month 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nelo pay becomes the money app. </a:t>
            </a:r>
            <a:pPr algn="l" indent="0" marL="0">
              <a:buNone/>
            </a:pPr>
            <a:r>
              <a:rPr lang="en-US" sz="3200" b="1" dirty="0">
                <a:solidFill>
                  <a:srgbClr val="A1A1A6"/>
                </a:solidFill>
              </a:rPr>
              <a:t>In crypto, felt in naira.</a:t>
            </a:r>
            <a:endParaRPr lang="en-US" sz="3200" dirty="0"/>
          </a:p>
        </p:txBody>
      </p:sp>
      <p:sp>
        <p:nvSpPr>
          <p:cNvPr id="4" name="service card"/>
          <p:cNvSpPr/>
          <p:nvPr/>
        </p:nvSpPr>
        <p:spPr>
          <a:xfrm>
            <a:off x="548640" y="1920240"/>
            <a:ext cx="3474720" cy="1417320"/>
          </a:xfrm>
          <a:prstGeom prst="roundRect">
            <a:avLst>
              <a:gd name="adj" fmla="val 1419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Pay a friend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Live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</a:rPr>
              <a:t>  ·  0.3%</a:t>
            </a:r>
            <a:endParaRPr lang="en-US" sz="1200" dirty="0"/>
          </a:p>
        </p:txBody>
      </p:sp>
      <p:sp>
        <p:nvSpPr>
          <p:cNvPr id="9" name="service card"/>
          <p:cNvSpPr/>
          <p:nvPr/>
        </p:nvSpPr>
        <p:spPr>
          <a:xfrm>
            <a:off x="4297680" y="1920240"/>
            <a:ext cx="3474720" cy="1417320"/>
          </a:xfrm>
          <a:prstGeom prst="roundRect">
            <a:avLst>
              <a:gd name="adj" fmla="val 1419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194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Cash out to bank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 7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</a:rPr>
              <a:t>  ·  0.75%</a:t>
            </a:r>
            <a:endParaRPr lang="en-US" sz="1200" dirty="0"/>
          </a:p>
        </p:txBody>
      </p:sp>
      <p:sp>
        <p:nvSpPr>
          <p:cNvPr id="14" name="service card"/>
          <p:cNvSpPr/>
          <p:nvPr/>
        </p:nvSpPr>
        <p:spPr>
          <a:xfrm>
            <a:off x="8046720" y="1920240"/>
            <a:ext cx="3474720" cy="1417320"/>
          </a:xfrm>
          <a:prstGeom prst="roundRect">
            <a:avLst>
              <a:gd name="adj" fmla="val 1419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194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331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Savings with yield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00684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 9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</a:rPr>
              <a:t>  ·  1.5% of yield</a:t>
            </a:r>
            <a:endParaRPr lang="en-US" sz="1200" dirty="0"/>
          </a:p>
        </p:txBody>
      </p:sp>
      <p:sp>
        <p:nvSpPr>
          <p:cNvPr id="19" name="service card"/>
          <p:cNvSpPr/>
          <p:nvPr/>
        </p:nvSpPr>
        <p:spPr>
          <a:xfrm>
            <a:off x="548640" y="3520440"/>
            <a:ext cx="3474720" cy="1417320"/>
          </a:xfrm>
          <a:prstGeom prst="roundRect">
            <a:avLst>
              <a:gd name="adj" fmla="val 1419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319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Bill payments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 10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</a:rPr>
              <a:t>  ·  1% biller fee</a:t>
            </a:r>
            <a:endParaRPr lang="en-US" sz="1200" dirty="0"/>
          </a:p>
        </p:txBody>
      </p:sp>
      <p:sp>
        <p:nvSpPr>
          <p:cNvPr id="24" name="service card"/>
          <p:cNvSpPr/>
          <p:nvPr/>
        </p:nvSpPr>
        <p:spPr>
          <a:xfrm>
            <a:off x="4297680" y="3520440"/>
            <a:ext cx="3474720" cy="1417320"/>
          </a:xfrm>
          <a:prstGeom prst="roundRect">
            <a:avLst>
              <a:gd name="adj" fmla="val 1419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3794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9319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Stocks and real-world assets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25780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 15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</a:rPr>
              <a:t>  ·  0.5% per trade</a:t>
            </a:r>
            <a:endParaRPr lang="en-US" sz="1200" dirty="0"/>
          </a:p>
        </p:txBody>
      </p:sp>
      <p:sp>
        <p:nvSpPr>
          <p:cNvPr id="29" name="service card"/>
          <p:cNvSpPr/>
          <p:nvPr/>
        </p:nvSpPr>
        <p:spPr>
          <a:xfrm>
            <a:off x="8046720" y="3520440"/>
            <a:ext cx="3474720" cy="1417320"/>
          </a:xfrm>
          <a:prstGeom prst="roundRect">
            <a:avLst>
              <a:gd name="adj" fmla="val 1419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3794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9319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Agent payments API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900684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 18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</a:rPr>
              <a:t>  ·  0.5% on volume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Every service runs on USDC and Solana underneath, and shows the user naira. Each one turns a customer who paid once into a user who stays: more reasons to open the app, more balance kept in it, more businesses that see their customers already on nelo.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Three-year projection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$256k to $28.5M a year.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Both apps, one network.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2D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nelo pay users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$39.2M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$392M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$3.3B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fees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$239k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$19.9M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nelo pay services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$621k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$7.8M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payments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$817k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$256k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nelo pay and 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Run-rate at each year end. Users: 40, 50, 60 per business. Service adoption ramps from launch; agents take 2% then 5% of business volume. Illustrative, not a forecast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SKR · Trust Stake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Stake raises the offline limit.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Earning is a choice.</a:t>
            </a:r>
            <a:endParaRPr lang="en-US" sz="3200" dirty="0"/>
          </a:p>
        </p:txBody>
      </p:sp>
      <p:sp>
        <p:nvSpPr>
          <p:cNvPr id="4" name="collateral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Collateral that saturates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Stake raises a merchant's offline limit on a sublinear, reputation-weighted, hard-capped curve, and is first-loss capital before the reserve. Past the largest realistic basket, more stake buys nothing. That is correct.</a:t>
            </a:r>
            <a:endParaRPr lang="en-US" sz="1500" dirty="0"/>
          </a:p>
        </p:txBody>
      </p:sp>
      <p:sp>
        <p:nvSpPr>
          <p:cNvPr id="9" name="earning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Earning, and a real choice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9718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Each period the merchant chooses: the rebate as a lower fee in naira, or paid in SKR, already staked, at a premium priced from the reserve capital their stake saves. A choice made each month is an incentive; an automatic accrual is a discount.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Honest number: the reserve model supports a premium of about 1.001×, not 1.5×. We say so rather than pick one.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docs/RESERVE.md · merchants electing SKR accept price risk, disclosed at the point of election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Distribution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Door to door first.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Then the network does the rest.</a:t>
            </a:r>
            <a:endParaRPr lang="en-US" sz="3200" dirty="0"/>
          </a:p>
        </p:txBody>
      </p:sp>
      <p:sp>
        <p:nvSpPr>
          <p:cNvPr id="4" name="distribution card"/>
          <p:cNvSpPr/>
          <p:nvPr/>
        </p:nvSpPr>
        <p:spPr>
          <a:xfrm>
            <a:off x="548640" y="1920240"/>
            <a:ext cx="53949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3911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Cluster by cluster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Win one market completely before the next. Traders talk constantly.</a:t>
            </a:r>
            <a:endParaRPr lang="en-US" sz="1400" dirty="0"/>
          </a:p>
        </p:txBody>
      </p:sp>
      <p:sp>
        <p:nvSpPr>
          <p:cNvPr id="9" name="distribution card"/>
          <p:cNvSpPr/>
          <p:nvPr/>
        </p:nvSpPr>
        <p:spPr>
          <a:xfrm>
            <a:off x="6217920" y="1920240"/>
            <a:ext cx="53949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24028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3911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Customers spread it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customer who pays with nelo pay can pay a friend, and brings them in.</a:t>
            </a:r>
            <a:endParaRPr lang="en-US" sz="1400" dirty="0"/>
          </a:p>
        </p:txBody>
      </p:sp>
      <p:sp>
        <p:nvSpPr>
          <p:cNvPr id="14" name="distribution card"/>
          <p:cNvSpPr/>
          <p:nvPr/>
        </p:nvSpPr>
        <p:spPr>
          <a:xfrm>
            <a:off x="548640" y="3749040"/>
            <a:ext cx="53949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6908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2199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dApp Store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Placement seeds the customer side with people who already hold wallets.</a:t>
            </a:r>
            <a:endParaRPr lang="en-US" sz="1400" dirty="0"/>
          </a:p>
        </p:txBody>
      </p:sp>
      <p:sp>
        <p:nvSpPr>
          <p:cNvPr id="19" name="distribution card"/>
          <p:cNvSpPr/>
          <p:nvPr/>
        </p:nvSpPr>
        <p:spPr>
          <a:xfrm>
            <a:off x="6217920" y="3749040"/>
            <a:ext cx="53949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6908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21995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Payout partners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paj.cash and UseAzza already have merchants and want volume. UseAzza adds 9+ more payout currencies.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actually ran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Live, on devnet,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and declared.</a:t>
            </a:r>
            <a:endParaRPr lang="en-US" sz="3200" dirty="0"/>
          </a:p>
        </p:txBody>
      </p:sp>
      <p:sp>
        <p:nvSpPr>
          <p:cNvPr id="4" name="column"/>
          <p:cNvSpPr/>
          <p:nvPr/>
        </p:nvSpPr>
        <p:spPr>
          <a:xfrm>
            <a:off x="548640" y="187452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62D0"/>
                </a:solidFill>
              </a:rPr>
              <a:t>Live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Cash-out on Solana mainnet, paid to a Nigerian bank by paj.cash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Signed release APKs: the till and nelo pay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Mobile Wallet Adapter for every merchant signature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paj.cash's live naira rate on the till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Payout partners from day one: paj.cash and UseAzza (9+ currencies)</a:t>
            </a:r>
            <a:endParaRPr lang="en-US" sz="1300" dirty="0"/>
          </a:p>
        </p:txBody>
      </p:sp>
      <p:sp>
        <p:nvSpPr>
          <p:cNvPr id="7" name="column"/>
          <p:cNvSpPr/>
          <p:nvPr/>
        </p:nvSpPr>
        <p:spPr>
          <a:xfrm>
            <a:off x="4297680" y="187452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C4FC9"/>
                </a:solidFill>
              </a:rPr>
              <a:t>On devnet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60320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Vault program: secure-chip signatures verified on chain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Offline sale, both phones in airplane mode, settled on reconnect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Replay refused; a forged double spend freezes the vault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anchor test green: 40 of 40</a:t>
            </a:r>
            <a:endParaRPr lang="en-US" sz="1300" dirty="0"/>
          </a:p>
        </p:txBody>
      </p:sp>
      <p:sp>
        <p:nvSpPr>
          <p:cNvPr id="10" name="column"/>
          <p:cNvSpPr/>
          <p:nvPr/>
        </p:nvSpPr>
        <p:spPr>
          <a:xfrm>
            <a:off x="8046720" y="1874520"/>
            <a:ext cx="3474720" cy="393192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560C"/>
                </a:solidFill>
              </a:rPr>
              <a:t>Declared, not built yet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60320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nelo pay services beyond paying a friend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Rebate payout and the SKR premium (≈1.001×)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QR only; NFC not yet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Phone-number sign-up off (Privy SMS for Nigeria)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github.com/Udoka-AM/nelo   ·   udoka-am.github.io/nelo   ·   Video: [link]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Roadmap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Win one market. </a:t>
            </a:r>
            <a:pPr algn="l" indent="0" marL="0">
              <a:buNone/>
            </a:pPr>
            <a:r>
              <a:rPr lang="en-US" sz="3200" b="1" dirty="0">
                <a:solidFill>
                  <a:srgbClr val="6E6E73"/>
                </a:solidFill>
              </a:rPr>
              <a:t>Then grow up with our users.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10607040" cy="0"/>
          </a:xfrm>
          <a:prstGeom prst="line">
            <a:avLst/>
          </a:prstGeom>
          <a:noFill/>
          <a:ln w="25400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BFB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Days 0–90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100 businesses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dApp Store listing. One market cluster in Nigeria, door to door. Cash-outs through paj.cash and UseAzza.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2152" y="214884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BFB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Months 3–6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Harden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3566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Vault audit. Offline payments move to mainnet. Reserve model on observed loss.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18504" y="214884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BFB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Months 6–12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nelo pay grows up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3566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Cash out, savings with yield and bill payments in nelo pay. 300 businesses.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34856" y="2148840"/>
            <a:ext cx="365760" cy="3657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BFB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97696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Year 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97696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Assets and agents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3566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Stocks and real-world assets in local-currency terms. Agent payments API. New countries through UseAzza.</a:t>
            </a:r>
            <a:endParaRPr lang="en-US" sz="1400" dirty="0"/>
          </a:p>
        </p:txBody>
      </p:sp>
      <p:sp>
        <p:nvSpPr>
          <p:cNvPr id="21" name="dependency"/>
          <p:cNvSpPr/>
          <p:nvPr/>
        </p:nvSpPr>
        <p:spPr>
          <a:xfrm>
            <a:off x="548640" y="5166360"/>
            <a:ext cx="11064240" cy="73152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Payout partners were the one blocking dependency. paj.cash and UseAzza are live from day one: Nigeria first, then 9+ more currencies.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Team and asks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Who built it, </a:t>
            </a:r>
            <a:pPr algn="l" indent="0" marL="0">
              <a:buNone/>
            </a:pPr>
            <a:r>
              <a:rPr lang="en-US" sz="3200" b="1" dirty="0">
                <a:solidFill>
                  <a:srgbClr val="A1A1A6"/>
                </a:solidFill>
              </a:rPr>
              <a:t>and what unlocks the next stage.</a:t>
            </a:r>
            <a:endParaRPr lang="en-US" sz="3200" dirty="0"/>
          </a:p>
        </p:txBody>
      </p:sp>
      <p:sp>
        <p:nvSpPr>
          <p:cNvPr id="4" name="team"/>
          <p:cNvSpPr/>
          <p:nvPr/>
        </p:nvSpPr>
        <p:spPr>
          <a:xfrm>
            <a:off x="548640" y="1920240"/>
            <a:ext cx="5394960" cy="3840480"/>
          </a:xfrm>
          <a:prstGeom prst="roundRect">
            <a:avLst>
              <a:gd name="adj" fmla="val 523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[ Name — role 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[ Name — role 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[ Name — role 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80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Android and the secure chip · Rust and Anchor for the vault · design · partnerships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0236" y="2116836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32320" y="1947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 design partner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377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</a:rPr>
              <a:t>One market association willing to run a hundred tills.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3246120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6" y="339699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3227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 security review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3657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</a:rPr>
              <a:t>Of the vault program, before offline payments move to mainnet.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309360" y="452628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467715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32320" y="4507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dApp Store placement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7132320" y="4937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</a:rPr>
              <a:t>To seed nelo pay with people who already hold wallets.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lo">
  <a:themeElements>
    <a:clrScheme name="nelo">
      <a:dk1>
        <a:srgbClr val="1D1D1F"/>
      </a:dk1>
      <a:lt1>
        <a:srgbClr val="FFFFFF"/>
      </a:lt1>
      <a:dk2>
        <a:srgbClr val="000000"/>
      </a:dk2>
      <a:lt2>
        <a:srgbClr val="F2F2F5"/>
      </a:lt2>
      <a:accent1>
        <a:srgbClr val="0A62D0"/>
      </a:accent1>
      <a:accent2>
        <a:srgbClr val="C2560C"/>
      </a:accent2>
      <a:accent3>
        <a:srgbClr val="9C4FC9"/>
      </a:accent3>
      <a:accent4>
        <a:srgbClr val="7AB4FF"/>
      </a:accent4>
      <a:accent5>
        <a:srgbClr val="FFA45C"/>
      </a:accent5>
      <a:accent6>
        <a:srgbClr val="6E6E73"/>
      </a:accent6>
      <a:hlink>
        <a:srgbClr val="0A62D0"/>
      </a:hlink>
      <a:folHlink>
        <a:srgbClr val="9C4FC9"/>
      </a:folHlink>
    </a:clrScheme>
    <a:fontScheme name="nel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nelo — pitch deck</dc:title>
  <dc:subject>PptxGenJS Presentation</dc:subject>
  <dc:creator>nelo</dc:creator>
  <cp:lastModifiedBy>nelo</cp:lastModifiedBy>
  <cp:revision>1</cp:revision>
  <dcterms:created xsi:type="dcterms:W3CDTF">2026-10-10T08:38:42Z</dcterms:created>
  <dcterms:modified xsi:type="dcterms:W3CDTF">2026-10-10T08:38:42Z</dcterms:modified>
</cp:coreProperties>
</file>