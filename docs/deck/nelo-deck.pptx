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c365c57-83cb-300f-71ff-f333b25659b7}">
          <p14:sldIdLst>
            <p14:sldId id="256"/>
          </p14:sldIdLst>
        </p14:section>
        <p14:section name="Problem" id="{abc3adec-1891-d86a-4d5f-513d6b8d6b27}">
          <p14:sldIdLst>
            <p14:sldId id="257"/>
            <p14:sldId id="258"/>
          </p14:sldIdLst>
        </p14:section>
        <p14:section name="Product" id="{94c95c08-b63c-9634-6530-504674ed45e9}">
          <p14:sldIdLst>
            <p14:sldId id="259"/>
            <p14:sldId id="260"/>
          </p14:sldIdLst>
        </p14:section>
        <p14:section name="Proof" id="{01158a6b-2195-71e5-1509-64afb9d2ff85}">
          <p14:sldIdLst>
            <p14:sldId id="261"/>
            <p14:sldId id="262"/>
          </p14:sldIdLst>
        </p14:section>
        <p14:section name="Business" id="{3907683c-0ba8-e043-1ce9-95a17608f58e}">
          <p14:sldIdLst>
            <p14:sldId id="263"/>
            <p14:sldId id="264"/>
            <p14:sldId id="265"/>
            <p14:sldId id="266"/>
          </p14:sldIdLst>
        </p14:section>
        <p14:section name="Close" id="{02d3a4c1-0948-ed3a-fc20-c98c39ce1735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A1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F1A16"/>
                </a:solidFill>
                <a:latin typeface="+mn-lt"/>
              </a:rPr>
              <a:t>Money already moving on phones ($B)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A6B4C"/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A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SSA mobile money, 2025</c:v>
                  </c:pt>
                  <c:pt idx="1">
                    <c:v>Solana stablecoin volume, Feb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1400</c:v>
                </c:pt>
                <c:pt idx="1">
                  <c:v>650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1A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A1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F1A16"/>
                </a:solidFill>
                <a:latin typeface="+mn-lt"/>
              </a:rPr>
              <a:t>Net revenue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net revenue</c:v>
                </c:pt>
              </c:strCache>
            </c:strRef>
          </c:tx>
          <c:spPr>
            <a:solidFill>
              <a:srgbClr val="1A6B4C"/>
            </a:solidFill>
            <a:effectLst/>
          </c:spPr>
          <c:invertIfNegative val="0"/>
          <c:dLbls>
            <c:numFmt formatCode="&quot;$&quot;#,##0&quot;k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A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1,000 merchants</c:v>
                  </c:pt>
                  <c:pt idx="1">
                    <c:v>25,000 merchants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174</c:v>
                </c:pt>
              </c:numCache>
            </c:numRef>
          </c:val>
        </c:ser>
        <c:dLbls>
          <c:numFmt formatCode="&quot;$&quot;#,##0&quot;k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F1A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Nelo turns an Android phone into a payment terminal that works offline and pays the merchant into their own bank account in naira. Replace the team placeholder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Adaeze, not the statistic. The numbers prove she is not an edge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things the merchant touches. Everything else, including the chain, is invisible.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bracketed values from the real run: the cash-out transaction signature on Solscan, the naira amount, the seconds it took, and the paj.cash order id. Show the bank alert in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punish a discovered stub far harder than a declared one. Keep this slide honest; update it if anything changes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8686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Nelo · CLOCK IN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Nelo · CLOCK IN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Nelo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Accept payments on the phone you already own. Paid in your own currency, into your own bank. And it keeps working when the network doesn't.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CLOCK IN · A Solana Mobile hackathon presented by Radiants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Android · Solana Mobile Stack · USDC on Solana · paid out by paj.cash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[ Team names and roles 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quarter of card payments in this market simply fail</a:t>
            </a:r>
            <a:endParaRPr lang="en-US" sz="3000" dirty="0"/>
          </a:p>
        </p:txBody>
      </p:sp>
      <p:sp>
        <p:nvSpPr>
          <p:cNvPr id="4" name="stat card"/>
          <p:cNvSpPr/>
          <p:nvPr/>
        </p:nvSpPr>
        <p:spPr>
          <a:xfrm>
            <a:off x="548640" y="1965960"/>
            <a:ext cx="4023360" cy="3749040"/>
          </a:xfrm>
          <a:prstGeom prst="roundRect">
            <a:avLst>
              <a:gd name="adj" fmla="val 2927"/>
            </a:avLst>
          </a:prstGeom>
          <a:solidFill>
            <a:srgbClr val="EEF5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29.23%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POS transactions failed on 15 May 2026: about 157,000 declined in one day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51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daily average, reaching 25% at peak hours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0640" y="20116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6703" y="2147743"/>
            <a:ext cx="294803" cy="29480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52160" y="20574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Adaeze sells phone accessories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5603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Her bank terminal took a deposit, a wait, and a fee she never stops noticing. It stops working whenever the network drops, which is most afternoons. On those afternoons she takes cash, or loses the sale.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12064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703" y="4205143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852160" y="4114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regulator agrees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852160" y="461772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central bank has mandated dual routing with automatic failover, because the single path keeps breaking. The same pattern recurs in Buenos Aires, Manila, Karachi and Lima.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Nigerian POS failure-rate reporting, 2026 · CBN dual-routing directive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WHY NOW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Two things landed last year. Nobody had put them together</a:t>
            </a:r>
            <a:endParaRPr lang="en-US" sz="3000" dirty="0"/>
          </a:p>
        </p:txBody>
      </p:sp>
      <p:sp>
        <p:nvSpPr>
          <p:cNvPr id="4" name="why now card"/>
          <p:cNvSpPr/>
          <p:nvPr/>
        </p:nvSpPr>
        <p:spPr>
          <a:xfrm>
            <a:off x="548640" y="201168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JUNE 2025 · SOLANA MAINNET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The secp256r1 precompile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Solana program can natively verify a NIST P-256 signature on chain.</a:t>
            </a:r>
            <a:endParaRPr lang="en-US" sz="1600" dirty="0"/>
          </a:p>
        </p:txBody>
      </p:sp>
      <p:sp>
        <p:nvSpPr>
          <p:cNvPr id="10" name="why now card"/>
          <p:cNvSpPr/>
          <p:nvPr/>
        </p:nvSpPr>
        <p:spPr>
          <a:xfrm>
            <a:off x="6217920" y="201168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299" y="248533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EVERY MODERN ANDROID PHONE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Secure chips sign P-256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one curve Android's secure element supports everywhere: the same curve behind passkeys.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074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The phone's secure chip signs. The chain verifies. No trusted server sits in the path of the money.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SIMD-0075 · Android hardware-backed Keystore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card machine with no card machine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Everything the merchant sees is in naira. Nothing says the word crypto. They sign up with the wallet they have, and name their bank account.</a:t>
            </a:r>
            <a:endParaRPr lang="en-US" sz="1600" dirty="0"/>
          </a:p>
        </p:txBody>
      </p:sp>
      <p:sp>
        <p:nvSpPr>
          <p:cNvPr id="5" name="product card"/>
          <p:cNvSpPr/>
          <p:nvPr/>
        </p:nvSpPr>
        <p:spPr>
          <a:xfrm>
            <a:off x="548640" y="242316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EEF5F1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697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688" y="2855488"/>
            <a:ext cx="342351" cy="34235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The till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069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an amount and take payment by QR from any Solana wallet, or from the Nelo payer app. Keeps the day-book.</a:t>
            </a:r>
            <a:endParaRPr lang="en-US" sz="1500" dirty="0"/>
          </a:p>
        </p:txBody>
      </p:sp>
      <p:sp>
        <p:nvSpPr>
          <p:cNvPr id="10" name="product card"/>
          <p:cNvSpPr/>
          <p:nvPr/>
        </p:nvSpPr>
        <p:spPr>
          <a:xfrm>
            <a:off x="4297680" y="242316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EEF5F1"/>
          </a:solidFill>
          <a:ln/>
        </p:spPr>
      </p:sp>
      <p:sp>
        <p:nvSpPr>
          <p:cNvPr id="11" name="Shape 8"/>
          <p:cNvSpPr/>
          <p:nvPr/>
        </p:nvSpPr>
        <p:spPr>
          <a:xfrm>
            <a:off x="4617720" y="2697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728" y="285548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Offline payments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4069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Both phones in airplane mode, the sale still completes. Settles itself the moment the till sees a network.</a:t>
            </a:r>
            <a:endParaRPr lang="en-US" sz="1500" dirty="0"/>
          </a:p>
        </p:txBody>
      </p:sp>
      <p:sp>
        <p:nvSpPr>
          <p:cNvPr id="15" name="product card"/>
          <p:cNvSpPr/>
          <p:nvPr/>
        </p:nvSpPr>
        <p:spPr>
          <a:xfrm>
            <a:off x="8046720" y="242316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EEF5F1"/>
          </a:solidFill>
          <a:ln/>
        </p:spPr>
      </p:sp>
      <p:sp>
        <p:nvSpPr>
          <p:cNvPr id="16" name="Shape 12"/>
          <p:cNvSpPr/>
          <p:nvPr/>
        </p:nvSpPr>
        <p:spPr>
          <a:xfrm>
            <a:off x="8366760" y="2697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768" y="2855488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Paid to the bank</a:t>
            </a:r>
            <a:endParaRPr lang="en-US" sz="21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069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Naira into the merchant's own account, about 20 seconds after they approve, through paj.cash. No SOL needed.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Offline mode is a prepaid balance, not a promise to pay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Lock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payer sets USDC aside in an on-chain vault while online. Nothing offline can exceed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16352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39312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816352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Sign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816352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phone's secure hardware signs a payment voucher with a key that never leaves the chip.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4064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84064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07024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84064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Hand over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084064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QR, both ways. Neither phone has a network. The till checks the signature on the spot.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51776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51776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74736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351776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Adjudicate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351776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reconnect the program verifies the signature on chain and refuses any reused sequence.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19488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19488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619488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Settle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619488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USDC moves to the merchant. Nelo's relayer pays the fee; the merchant signs nothing.</a:t>
            </a:r>
            <a:endParaRPr lang="en-US" sz="1400" dirty="0"/>
          </a:p>
        </p:txBody>
      </p:sp>
      <p:sp>
        <p:nvSpPr>
          <p:cNvPr id="28" name="guarantees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EF5F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Solvency is on chain before the sale  ·  a replayed voucher is refused, identically, for everyone  ·  withdrawals are time-locked  ·  a double spend freezes the vault and slashes its stake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IT RAN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 real sale, then real naira in a real bank account</a:t>
            </a:r>
            <a:endParaRPr lang="en-US" sz="3000" dirty="0"/>
          </a:p>
        </p:txBody>
      </p:sp>
      <p:sp>
        <p:nvSpPr>
          <p:cNvPr id="4" name="proof card"/>
          <p:cNvSpPr/>
          <p:nvPr/>
        </p:nvSpPr>
        <p:spPr>
          <a:xfrm>
            <a:off x="548640" y="20116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OFFLINE SALE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Settled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Two phones in airplane mode; the sale settled on reconnect through the relayer</a:t>
            </a:r>
            <a:endParaRPr lang="en-US" sz="1400" dirty="0"/>
          </a:p>
        </p:txBody>
      </p:sp>
      <p:sp>
        <p:nvSpPr>
          <p:cNvPr id="8" name="proof card"/>
          <p:cNvSpPr/>
          <p:nvPr/>
        </p:nvSpPr>
        <p:spPr>
          <a:xfrm>
            <a:off x="4297680" y="20116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DOUBLE SPEND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voucher shown twice was refused; a forged second voucher froze the vault</a:t>
            </a:r>
            <a:endParaRPr lang="en-US" sz="1400" dirty="0"/>
          </a:p>
        </p:txBody>
      </p:sp>
      <p:sp>
        <p:nvSpPr>
          <p:cNvPr id="12" name="proof card"/>
          <p:cNvSpPr/>
          <p:nvPr/>
        </p:nvSpPr>
        <p:spPr>
          <a:xfrm>
            <a:off x="8046720" y="20116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MAINNET CASH-OUT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₦[amount]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USDC on Solana mainnet to paj.cash, paid to a Nigerian bank in about [N] seconds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Mainnet transaction: [signature]   ·   paj.cash order: [order id]   ·   Vault program (devnet): [program id]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Signed release APKs, two Android handsets · cash-out on Solana mainnet · offline payments on devnet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WHY A PHONE, WHY SOLANA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Neither half of this works anywhere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21872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Only on a phone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It needs a secure chip and a camera in the same device at the same instant. There is no web version, and no way to bolt this onto a payment afterwards.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485" y="218724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7804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Only on Solana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6217920" y="29718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secp256r1 precompile lets the chain check the secure chip's signature directly. Sub-cent fees and sub-second finality make a $3 sale worth settling.</a:t>
            </a:r>
            <a:endParaRPr lang="en-US" sz="1600" dirty="0"/>
          </a:p>
        </p:txBody>
      </p:sp>
      <p:sp>
        <p:nvSpPr>
          <p:cNvPr id="12" name="stat strip"/>
          <p:cNvSpPr/>
          <p:nvPr/>
        </p:nvSpPr>
        <p:spPr>
          <a:xfrm>
            <a:off x="548640" y="48463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EF5F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~35%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global on-chain stablecoin transfers by count already run on Solana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MARKET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behaviour already exists. The rails are unreliable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$40.7B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TAM · mPOS terminals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2026 forecast, fastest growth in Asia-Pacific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$730B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880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SAM · stablecoin markets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246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USD stablecoin holdings across 45 emerging markets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880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SOM · the beachhead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3246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Merchants in one trading market, recruited on foot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48640" y="3977640"/>
          <a:ext cx="676656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insight"/>
          <p:cNvSpPr/>
          <p:nvPr/>
        </p:nvSpPr>
        <p:spPr>
          <a:xfrm>
            <a:off x="7680960" y="4023360"/>
            <a:ext cx="3931920" cy="1828800"/>
          </a:xfrm>
          <a:prstGeom prst="roundRect">
            <a:avLst>
              <a:gd name="adj" fmla="val 6000"/>
            </a:avLst>
          </a:prstGeom>
          <a:solidFill>
            <a:srgbClr val="EEF5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955280" y="42062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Currency is a setting, not a market. A new country is a payout partner and a price feed, not a rebuild.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GSMA State of the Industry 2026 · S&amp;P Global · 2026 Solana stablecoin reporting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BUSINESS MODEL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Basis points on volume, spread on payout, then lending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daily turnover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captured on Nelo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fee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 spread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insurance reserve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(0.29%)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Trust Stake rebate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(0.10%)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take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merchant per month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126480" y="1828800"/>
          <a:ext cx="54864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126480" y="48006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 per merchant and normal for acquiring. The business is volume and retention: a merchant who got paid on an afternoon the bank terminal was down does not go back. Lending against observed cash flow comes next.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Illustrative model with stated assumptions, not a forecast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SKR · TRUST STAKE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Stake raises the offline limit. Earning is a choice</a:t>
            </a:r>
            <a:endParaRPr lang="en-US" sz="3000" dirty="0"/>
          </a:p>
        </p:txBody>
      </p:sp>
      <p:sp>
        <p:nvSpPr>
          <p:cNvPr id="4" name="collateral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EEF5F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23306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Collateral that saturates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Stake raises a merchant's offline limit on a sublinear, reputation-weighted, hard-capped curve, and is first-loss capital before the reserve. Past the largest realistic basket, more stake buys nothing. That is correct.</a:t>
            </a:r>
            <a:endParaRPr lang="en-US" sz="1500" dirty="0"/>
          </a:p>
        </p:txBody>
      </p:sp>
      <p:sp>
        <p:nvSpPr>
          <p:cNvPr id="9" name="earning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EEF5F1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23306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Earning, and a real choice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period the merchant chooses: the rebate as a lower fee in naira, or paid in SKR, already staked, at a premium priced from the reserve capital their stake saves. A choice made each month is an incentive; an automatic accrual is a discount.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Honest number: the reserve model supports a premium of about 1.001×, not 1.5×. We say so rather than pick one.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docs/RESERVE.md · merchants electing SKR accept price risk, disclosed at the point of election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DISTRIBUTION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Fifty merchants on foot, then the network does the rest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648" y="2078248"/>
            <a:ext cx="342351" cy="3423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9385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Cluster by cluster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395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Win one row of stalls completely before a second market. Traders talk constantly.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19202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928" y="2078248"/>
            <a:ext cx="342351" cy="34235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86600" y="19385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Payers spread it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2395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customer who pays offline has the app, and can pay a friend with it.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37947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952768"/>
            <a:ext cx="342351" cy="3423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8130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dApp Store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42702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Placement seeds the customer side with people who already hold wallets.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217920" y="37947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928" y="39527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86600" y="38130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Payout partners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086600" y="42702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paj.cash and its peers already have merchants and want volume.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WHAT ACTUALLY RAN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is live, what is on devnet, and what is declared</a:t>
            </a:r>
            <a:endParaRPr lang="en-US" sz="3000" dirty="0"/>
          </a:p>
        </p:txBody>
      </p:sp>
      <p:sp>
        <p:nvSpPr>
          <p:cNvPr id="4" name="column"/>
          <p:cNvSpPr/>
          <p:nvPr/>
        </p:nvSpPr>
        <p:spPr>
          <a:xfrm>
            <a:off x="54864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EF5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6B4C"/>
                </a:solidFill>
              </a:rPr>
              <a:t>Live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Cash-out on Solana mainnet, paid to a Nigerian bank by paj.cash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Signed release APKs for the till and the payer app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Mobile Wallet Adapter for every merchant signature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paj.cash's live naira rate on the till</a:t>
            </a:r>
            <a:endParaRPr lang="en-US" sz="1400" dirty="0"/>
          </a:p>
        </p:txBody>
      </p:sp>
      <p:sp>
        <p:nvSpPr>
          <p:cNvPr id="7" name="column"/>
          <p:cNvSpPr/>
          <p:nvPr/>
        </p:nvSpPr>
        <p:spPr>
          <a:xfrm>
            <a:off x="429768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EF5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B7A74"/>
                </a:solidFill>
              </a:rPr>
              <a:t>On devnet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Vault program: secure-chip signatures verified on chain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Offline sale, both phones in airplane mode, settled on reconnect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Replay refused; forged double spend freezes the vault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anchor test green: 40 of 40</a:t>
            </a:r>
            <a:endParaRPr lang="en-US" sz="1400" dirty="0"/>
          </a:p>
        </p:txBody>
      </p:sp>
      <p:sp>
        <p:nvSpPr>
          <p:cNvPr id="10" name="column"/>
          <p:cNvSpPr/>
          <p:nvPr/>
        </p:nvSpPr>
        <p:spPr>
          <a:xfrm>
            <a:off x="804672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EF5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855E"/>
                </a:solidFill>
              </a:rPr>
              <a:t>Declared stubs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0604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Rebate payout and the SKR premium (≈1.001×)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QR only; NFC not yet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Phone-number sign-up off (Privy SMS for Nigeria)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naira price feed: paj.cash's rate, or a fixed one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Repo: github.com/Udoka-AM/nelo   ·   Video: [link]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Ninety days after the hackathon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377440"/>
            <a:ext cx="10424160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9456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DAYS 0–30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Go live in one market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57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dApp Store listing. Fifty merchants trading daily in one cluster, cashing out through paj.cash.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DAYS 30–60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Harden and measure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657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Independent audit of the vault program. Move offline payments to mainnet. Reserve model against observed loss.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83880" y="219456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DAYS 60–90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Second market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657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second currency, to prove a new country is a payout partner and a price feed, not a rebuild.</a:t>
            </a:r>
            <a:endParaRPr lang="en-US" sz="1500" dirty="0"/>
          </a:p>
        </p:txBody>
      </p:sp>
      <p:sp>
        <p:nvSpPr>
          <p:cNvPr id="17" name="dependency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EF5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payout partner was the one blocking dependency. With paj.cash live, the rest of the stack is open or self-serve.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TEAM AND ASKS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Who built it, and what unlocks the next stage</a:t>
            </a:r>
            <a:endParaRPr lang="en-US" sz="3000" dirty="0"/>
          </a:p>
        </p:txBody>
      </p:sp>
      <p:sp>
        <p:nvSpPr>
          <p:cNvPr id="4" name="team"/>
          <p:cNvSpPr/>
          <p:nvPr/>
        </p:nvSpPr>
        <p:spPr>
          <a:xfrm>
            <a:off x="548640" y="19202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4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TEAM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4805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Android and the secure element · Rust and Anchor for the vault · design · partnerships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8590" y="211519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32320" y="1947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design partner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377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One market association willing to run fifty tills.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324612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90" y="3395350"/>
            <a:ext cx="323332" cy="3233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32320" y="32278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security review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6576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Of the vault program, before offline payments move to mainnet.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309360" y="452628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8590" y="4675510"/>
            <a:ext cx="323332" cy="3233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32320" y="4507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dApp Store placement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7132320" y="49377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To seed the payer side with people who already hold wallets.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lo">
  <a:themeElements>
    <a:clrScheme name="Nelo">
      <a:dk1>
        <a:srgbClr val="0F1A16"/>
      </a:dk1>
      <a:lt1>
        <a:srgbClr val="FFFFFF"/>
      </a:lt1>
      <a:dk2>
        <a:srgbClr val="0B2A20"/>
      </a:dk2>
      <a:lt2>
        <a:srgbClr val="EEF5F1"/>
      </a:lt2>
      <a:accent1>
        <a:srgbClr val="1A6B4C"/>
      </a:accent1>
      <a:accent2>
        <a:srgbClr val="4FB98F"/>
      </a:accent2>
      <a:accent3>
        <a:srgbClr val="D4855E"/>
      </a:accent3>
      <a:accent4>
        <a:srgbClr val="2E3B36"/>
      </a:accent4>
      <a:accent5>
        <a:srgbClr val="A9D8C2"/>
      </a:accent5>
      <a:accent6>
        <a:srgbClr val="6B7A74"/>
      </a:accent6>
      <a:hlink>
        <a:srgbClr val="1A6B4C"/>
      </a:hlink>
      <a:folHlink>
        <a:srgbClr val="4FB98F"/>
      </a:folHlink>
    </a:clrScheme>
    <a:fontScheme name="Nel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Nelo — pitch deck</dc:title>
  <dc:subject>PptxGenJS Presentation</dc:subject>
  <dc:creator>Nelo</dc:creator>
  <cp:lastModifiedBy>Nelo</cp:lastModifiedBy>
  <cp:revision>1</cp:revision>
  <dcterms:created xsi:type="dcterms:W3CDTF">2026-10-10T04:53:19Z</dcterms:created>
  <dcterms:modified xsi:type="dcterms:W3CDTF">2026-10-10T04:53:19Z</dcterms:modified>
</cp:coreProperties>
</file>