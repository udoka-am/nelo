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ook" id="{0abb75a1-4437-4d82-61ea-6ad9cde97f49}">
          <p14:sldIdLst>
            <p14:sldId id="256"/>
            <p14:sldId id="257"/>
          </p14:sldIdLst>
        </p14:section>
        <p14:section name="Problem and product" id="{201532d9-0594-2547-f063-b977f7afe078}">
          <p14:sldIdLst>
            <p14:sldId id="258"/>
            <p14:sldId id="259"/>
            <p14:sldId id="260"/>
            <p14:sldId id="261"/>
          </p14:sldIdLst>
        </p14:section>
        <p14:section name="Business" id="{2cde04f1-2937-7bba-5a95-d0ce9a3daae8}">
          <p14:sldIdLst>
            <p14:sldId id="262"/>
            <p14:sldId id="263"/>
            <p14:sldId id="264"/>
          </p14:sldIdLst>
        </p14:section>
        <p14:section name="Close" id="{53910ffb-adcf-c194-0e50-f4acf627c2fb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+mn-lt"/>
              </a:rPr>
              <a:t>Annual revenue run-rate, $M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Business fees</c:v>
                </c:pt>
              </c:strCache>
            </c:strRef>
          </c:tx>
          <c:spPr>
            <a:solidFill>
              <a:srgbClr val="F7DA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0.24</c:v>
                </c:pt>
                <c:pt idx="1">
                  <c:v>2.39</c:v>
                </c:pt>
                <c:pt idx="2">
                  <c:v>19.93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nelo pay</c:v>
                </c:pt>
              </c:strCache>
            </c:strRef>
          </c:tx>
          <c:spPr>
            <a:solidFill>
              <a:srgbClr val="CB6CE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0.02</c:v>
                </c:pt>
                <c:pt idx="1">
                  <c:v>0.62</c:v>
                </c:pt>
                <c:pt idx="2">
                  <c:v>7.77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Agent API</c:v>
                </c:pt>
              </c:strCache>
            </c:strRef>
          </c:tx>
          <c:spPr>
            <a:solidFill>
              <a:srgbClr val="7AB4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0.04</c:v>
                </c:pt>
                <c:pt idx="2">
                  <c:v>0.82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FFFFF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sentence of what nelo is, and four proofs a judge can check. Everything else follows.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the brackets from the real run: naira amount, seconds, Solscan signature, paj.cash order 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Cover-image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Content-A-image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Content-B-image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55080"/>
            <a:ext cx="256032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nelo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spc="200" kern="0" dirty="0">
                <a:solidFill>
                  <a:schemeClr val="accent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49808"/>
            <a:ext cx="11064240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3600" dirty="0">
                <a:solidFill>
                  <a:schemeClr val="bg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endParaRPr lang="en-US" sz="3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55080"/>
            <a:ext cx="256032" cy="256032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68680" y="63550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nelo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796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spc="200" kern="0" dirty="0">
                <a:solidFill>
                  <a:schemeClr val="accent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49808"/>
            <a:ext cx="11064240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3600" dirty="0">
                <a:solidFill>
                  <a:schemeClr val="bg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endParaRPr lang="en-US" sz="3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55080"/>
            <a:ext cx="256032" cy="256032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68680" y="63550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nelo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796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796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43000"/>
            <a:ext cx="6949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2000"/>
              </a:lnSpc>
              <a:buNone/>
            </a:pPr>
            <a:r>
              <a:rPr lang="en-US" sz="5000" dirty="0">
                <a:solidFill>
                  <a:schemeClr val="bg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Every business can now take payments </a:t>
            </a:r>
            <a:pPr indent="0" marL="0">
              <a:lnSpc>
                <a:spcPct val="92000"/>
              </a:lnSpc>
              <a:buNone/>
            </a:pPr>
            <a:r>
              <a:rPr lang="en-US" sz="5000" dirty="0">
                <a:solidFill>
                  <a:srgbClr val="F7DA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on Solana.</a:t>
            </a:r>
            <a:endParaRPr lang="en-US" sz="5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749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B9B4C2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Even when the network is down.</a:t>
            </a:r>
            <a:endParaRPr lang="en-US" sz="2400" dirty="0"/>
          </a:p>
        </p:txBody>
      </p:sp>
      <p:sp>
        <p:nvSpPr>
          <p:cNvPr id="4" name="pill"/>
          <p:cNvSpPr/>
          <p:nvPr/>
        </p:nvSpPr>
        <p:spPr>
          <a:xfrm>
            <a:off x="548640" y="4617720"/>
            <a:ext cx="324612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7DAFF">
                <a:alpha val="45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4736592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24128" y="4617720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Live on Solana mainnet</a:t>
            </a:r>
            <a:endParaRPr lang="en-US" sz="1300" dirty="0"/>
          </a:p>
        </p:txBody>
      </p:sp>
      <p:sp>
        <p:nvSpPr>
          <p:cNvPr id="7" name="pill"/>
          <p:cNvSpPr/>
          <p:nvPr/>
        </p:nvSpPr>
        <p:spPr>
          <a:xfrm>
            <a:off x="3931920" y="4617720"/>
            <a:ext cx="324612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7DAFF">
                <a:alpha val="45000"/>
              </a:srgb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6512" y="4736592"/>
            <a:ext cx="219456" cy="21945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407408" y="4617720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Paid into a Nigerian bank</a:t>
            </a:r>
            <a:endParaRPr lang="en-US" sz="1300" dirty="0"/>
          </a:p>
        </p:txBody>
      </p:sp>
      <p:sp>
        <p:nvSpPr>
          <p:cNvPr id="10" name="pill"/>
          <p:cNvSpPr/>
          <p:nvPr/>
        </p:nvSpPr>
        <p:spPr>
          <a:xfrm>
            <a:off x="548640" y="5212080"/>
            <a:ext cx="324612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7DAFF">
                <a:alpha val="45000"/>
              </a:srgbClr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330952"/>
            <a:ext cx="219456" cy="21945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24128" y="5212080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Works with no network</a:t>
            </a:r>
            <a:endParaRPr lang="en-US" sz="1300" dirty="0"/>
          </a:p>
        </p:txBody>
      </p:sp>
      <p:sp>
        <p:nvSpPr>
          <p:cNvPr id="13" name="pill"/>
          <p:cNvSpPr/>
          <p:nvPr/>
        </p:nvSpPr>
        <p:spPr>
          <a:xfrm>
            <a:off x="3931920" y="5212080"/>
            <a:ext cx="324612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7DAFF">
                <a:alpha val="45000"/>
              </a:srgbClr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6512" y="5330952"/>
            <a:ext cx="219456" cy="21945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4407408" y="5212080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Any Android phone</a:t>
            </a:r>
            <a:endParaRPr lang="en-US" sz="1300" dirty="0"/>
          </a:p>
        </p:txBody>
      </p:sp>
      <p:sp>
        <p:nvSpPr>
          <p:cNvPr id="16" name="phone payer-shown"/>
          <p:cNvSpPr/>
          <p:nvPr/>
        </p:nvSpPr>
        <p:spPr>
          <a:xfrm>
            <a:off x="7906451" y="1048451"/>
            <a:ext cx="2176039" cy="4486778"/>
          </a:xfrm>
          <a:prstGeom prst="roundRect">
            <a:avLst>
              <a:gd name="adj" fmla="val 11766"/>
            </a:avLst>
          </a:prstGeom>
          <a:solidFill>
            <a:srgbClr val="0B0B0C"/>
          </a:solidFill>
          <a:ln w="12700">
            <a:solidFill>
              <a:srgbClr val="4A3F57"/>
            </a:solidFill>
            <a:prstDash val="solid"/>
          </a:ln>
        </p:spPr>
      </p:sp>
      <p:pic>
        <p:nvPicPr>
          <p:cNvPr id="17" name="screen payer-show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0" y="1143000"/>
            <a:ext cx="1986941" cy="4297680"/>
          </a:xfrm>
          <a:prstGeom prst="rect">
            <a:avLst/>
          </a:prstGeom>
        </p:spPr>
      </p:pic>
      <p:sp>
        <p:nvSpPr>
          <p:cNvPr id="18" name="phone merchant-taken"/>
          <p:cNvSpPr/>
          <p:nvPr/>
        </p:nvSpPr>
        <p:spPr>
          <a:xfrm>
            <a:off x="9635764" y="674644"/>
            <a:ext cx="2361234" cy="4868631"/>
          </a:xfrm>
          <a:prstGeom prst="roundRect">
            <a:avLst>
              <a:gd name="adj" fmla="val 10843"/>
            </a:avLst>
          </a:prstGeom>
          <a:solidFill>
            <a:srgbClr val="0B0B0C"/>
          </a:solidFill>
          <a:ln w="12700">
            <a:solidFill>
              <a:srgbClr val="4A3F57"/>
            </a:solidFill>
            <a:prstDash val="solid"/>
          </a:ln>
        </p:spPr>
      </p:sp>
      <p:pic>
        <p:nvPicPr>
          <p:cNvPr id="19" name="screen merchant-take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38360" y="777240"/>
            <a:ext cx="2156042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spc="200" kern="0" dirty="0">
                <a:solidFill>
                  <a:schemeClr val="accent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IT ALREADY WORKS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49808"/>
            <a:ext cx="11064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chemeClr val="bg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Real sales. Real naira. </a:t>
            </a:r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rgbClr val="F7DA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In a real bank.</a:t>
            </a:r>
            <a:endParaRPr lang="en-US" sz="3600" dirty="0"/>
          </a:p>
        </p:txBody>
      </p:sp>
      <p:sp>
        <p:nvSpPr>
          <p:cNvPr id="4" name="proof"/>
          <p:cNvSpPr/>
          <p:nvPr/>
        </p:nvSpPr>
        <p:spPr>
          <a:xfrm>
            <a:off x="548640" y="2103120"/>
            <a:ext cx="3474720" cy="2423160"/>
          </a:xfrm>
          <a:prstGeom prst="roundRect">
            <a:avLst>
              <a:gd name="adj" fmla="val 6792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331720"/>
            <a:ext cx="512064" cy="512064"/>
          </a:xfrm>
          <a:prstGeom prst="ellipse">
            <a:avLst/>
          </a:prstGeom>
          <a:solidFill>
            <a:srgbClr val="F7DA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459736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9718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F7DA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₦[amount]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70332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Mainnet USDC → Nigerian bank, via paj.cash, in [N] seconds</a:t>
            </a:r>
            <a:endParaRPr lang="en-US" sz="1400" dirty="0"/>
          </a:p>
        </p:txBody>
      </p:sp>
      <p:sp>
        <p:nvSpPr>
          <p:cNvPr id="9" name="proof"/>
          <p:cNvSpPr/>
          <p:nvPr/>
        </p:nvSpPr>
        <p:spPr>
          <a:xfrm>
            <a:off x="4297680" y="2103120"/>
            <a:ext cx="3474720" cy="2423160"/>
          </a:xfrm>
          <a:prstGeom prst="roundRect">
            <a:avLst>
              <a:gd name="adj" fmla="val 6792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0" y="2331720"/>
            <a:ext cx="512064" cy="512064"/>
          </a:xfrm>
          <a:prstGeom prst="ellipse">
            <a:avLst/>
          </a:prstGeom>
          <a:solidFill>
            <a:srgbClr val="F7DA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016" y="2459736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72000" y="29718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F7DA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Settled</a:t>
            </a:r>
            <a:endParaRPr lang="en-US" sz="36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370332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Offline sale: both phones in airplane mode, settled on reconnect</a:t>
            </a:r>
            <a:endParaRPr lang="en-US" sz="1400" dirty="0"/>
          </a:p>
        </p:txBody>
      </p:sp>
      <p:sp>
        <p:nvSpPr>
          <p:cNvPr id="14" name="proof"/>
          <p:cNvSpPr/>
          <p:nvPr/>
        </p:nvSpPr>
        <p:spPr>
          <a:xfrm>
            <a:off x="8046720" y="2103120"/>
            <a:ext cx="3474720" cy="2423160"/>
          </a:xfrm>
          <a:prstGeom prst="roundRect">
            <a:avLst>
              <a:gd name="adj" fmla="val 6792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21040" y="2331720"/>
            <a:ext cx="512064" cy="512064"/>
          </a:xfrm>
          <a:prstGeom prst="ellipse">
            <a:avLst/>
          </a:prstGeom>
          <a:solidFill>
            <a:srgbClr val="F7DA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056" y="2459736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21040" y="29718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F7DA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Refused</a:t>
            </a:r>
            <a:endParaRPr lang="en-US" sz="360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370332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Double spend: a replayed voucher is refused; a forged one freezes the vault</a:t>
            </a:r>
            <a:endParaRPr lang="en-US" sz="14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892040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32688" y="48737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signed Android apps</a:t>
            </a:r>
            <a:endParaRPr lang="en-US" sz="14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4992" y="4892040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3749040" y="48737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40/40 on-chain tests</a:t>
            </a:r>
            <a:endParaRPr lang="en-US" sz="14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1344" y="4892040"/>
            <a:ext cx="274320" cy="27432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6565392" y="48737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paj.cash + UseAzza live</a:t>
            </a:r>
            <a:endParaRPr lang="en-US" sz="140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97696" y="4892040"/>
            <a:ext cx="274320" cy="274320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9381744" y="48737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Mobile Wallet Adapter</a:t>
            </a:r>
            <a:endParaRPr lang="en-US" sz="1400" dirty="0"/>
          </a:p>
        </p:txBody>
      </p:sp>
      <p:sp>
        <p:nvSpPr>
          <p:cNvPr id="27" name="Text 18"/>
          <p:cNvSpPr txBox="1"/>
          <p:nvPr/>
        </p:nvSpPr>
        <p:spPr>
          <a:xfrm>
            <a:off x="548640" y="594360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C8796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Mainnet tx: [signature]  ·  paj.cash order: [order id]  ·  Vault program (devnet): [program id]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796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spc="200" kern="0" dirty="0">
                <a:solidFill>
                  <a:schemeClr val="accent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49808"/>
            <a:ext cx="11064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chemeClr val="bg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A quarter of card payments fail. </a:t>
            </a:r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rgbClr val="F7DA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Daily.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4028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0" dirty="0">
                <a:solidFill>
                  <a:srgbClr val="F7DA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29.23%</a:t>
            </a:r>
            <a:endParaRPr lang="en-US" sz="8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3832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of POS transactions failed on 15 May 2026: ~157,000 declined in one day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224028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0" dirty="0">
                <a:solidFill>
                  <a:srgbClr val="F7DA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15%</a:t>
            </a:r>
            <a:endParaRPr lang="en-US" sz="84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33832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average daily failure rate, reaching 25% at peak hours</a:t>
            </a:r>
            <a:endParaRPr lang="en-US" sz="1600" dirty="0"/>
          </a:p>
        </p:txBody>
      </p:sp>
      <p:sp>
        <p:nvSpPr>
          <p:cNvPr id="8" name="consequence"/>
          <p:cNvSpPr/>
          <p:nvPr/>
        </p:nvSpPr>
        <p:spPr>
          <a:xfrm>
            <a:off x="548640" y="4526280"/>
            <a:ext cx="11064240" cy="1097280"/>
          </a:xfrm>
          <a:prstGeom prst="roundRect">
            <a:avLst>
              <a:gd name="adj" fmla="val 15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4818888"/>
            <a:ext cx="512064" cy="512064"/>
          </a:xfrm>
          <a:prstGeom prst="ellipse">
            <a:avLst/>
          </a:prstGeom>
          <a:solidFill>
            <a:srgbClr val="F7DAF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4946904"/>
            <a:ext cx="256032" cy="25603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554480" y="452628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When the network drops, the shop takes cash or loses the sale. 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Terminals cost a deposit, a wait and a fee.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94360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C8796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Nigerian POS failure-rate reporting, 2026 · CBN dual-routing directive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796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spc="200" kern="0" dirty="0">
                <a:solidFill>
                  <a:schemeClr val="accent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THE PRODUCT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49808"/>
            <a:ext cx="11064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chemeClr val="bg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A payment terminal. </a:t>
            </a:r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rgbClr val="F7DA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With no terminal.</a:t>
            </a:r>
            <a:endParaRPr lang="en-US" sz="3600" dirty="0"/>
          </a:p>
        </p:txBody>
      </p:sp>
      <p:sp>
        <p:nvSpPr>
          <p:cNvPr id="4" name="product"/>
          <p:cNvSpPr/>
          <p:nvPr/>
        </p:nvSpPr>
        <p:spPr>
          <a:xfrm>
            <a:off x="548640" y="2011680"/>
            <a:ext cx="6949440" cy="1143000"/>
          </a:xfrm>
          <a:prstGeom prst="roundRect">
            <a:avLst>
              <a:gd name="adj" fmla="val 144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322576"/>
            <a:ext cx="512064" cy="512064"/>
          </a:xfrm>
          <a:prstGeom prst="ellipse">
            <a:avLst/>
          </a:prstGeom>
          <a:solidFill>
            <a:srgbClr val="F7DA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2450592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2157984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nelo for business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2523744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Any phone is the till. Charge in naira; any Solana wallet pays. Cash out to the bank in ~20 s.</a:t>
            </a:r>
            <a:endParaRPr lang="en-US" sz="1400" dirty="0"/>
          </a:p>
        </p:txBody>
      </p:sp>
      <p:sp>
        <p:nvSpPr>
          <p:cNvPr id="9" name="product"/>
          <p:cNvSpPr/>
          <p:nvPr/>
        </p:nvSpPr>
        <p:spPr>
          <a:xfrm>
            <a:off x="548640" y="3310128"/>
            <a:ext cx="6949440" cy="1143000"/>
          </a:xfrm>
          <a:prstGeom prst="roundRect">
            <a:avLst>
              <a:gd name="adj" fmla="val 144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7240" y="3621024"/>
            <a:ext cx="512064" cy="512064"/>
          </a:xfrm>
          <a:prstGeom prst="ellipse">
            <a:avLst/>
          </a:prstGeom>
          <a:solidFill>
            <a:srgbClr val="F7DA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3749040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08760" y="345643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Offline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1508760" y="3822192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No signal on either phone? The sale still completes, and settles itself on reconnect.</a:t>
            </a:r>
            <a:endParaRPr lang="en-US" sz="1400" dirty="0"/>
          </a:p>
        </p:txBody>
      </p:sp>
      <p:sp>
        <p:nvSpPr>
          <p:cNvPr id="14" name="product"/>
          <p:cNvSpPr/>
          <p:nvPr/>
        </p:nvSpPr>
        <p:spPr>
          <a:xfrm>
            <a:off x="548640" y="4608576"/>
            <a:ext cx="6949440" cy="1143000"/>
          </a:xfrm>
          <a:prstGeom prst="roundRect">
            <a:avLst>
              <a:gd name="adj" fmla="val 144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4919472"/>
            <a:ext cx="512064" cy="512064"/>
          </a:xfrm>
          <a:prstGeom prst="ellipse">
            <a:avLst/>
          </a:prstGeom>
          <a:solidFill>
            <a:srgbClr val="F7DA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5047488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08760" y="47548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nelo pay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1508760" y="512064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Customers pay shops and friends, online or offline. No crypto words, just naira.</a:t>
            </a:r>
            <a:endParaRPr lang="en-US" sz="1400" dirty="0"/>
          </a:p>
        </p:txBody>
      </p:sp>
      <p:sp>
        <p:nvSpPr>
          <p:cNvPr id="19" name="phone merchant-charge"/>
          <p:cNvSpPr/>
          <p:nvPr/>
        </p:nvSpPr>
        <p:spPr>
          <a:xfrm>
            <a:off x="8011973" y="1931213"/>
            <a:ext cx="1851948" cy="3818534"/>
          </a:xfrm>
          <a:prstGeom prst="roundRect">
            <a:avLst>
              <a:gd name="adj" fmla="val 13825"/>
            </a:avLst>
          </a:prstGeom>
          <a:solidFill>
            <a:srgbClr val="0B0B0C"/>
          </a:solidFill>
          <a:ln w="12700">
            <a:solidFill>
              <a:srgbClr val="4A3F57"/>
            </a:solidFill>
            <a:prstDash val="solid"/>
          </a:ln>
        </p:spPr>
      </p:sp>
      <p:pic>
        <p:nvPicPr>
          <p:cNvPr id="20" name="screen merchant-charg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2011680"/>
            <a:ext cx="1691014" cy="3657600"/>
          </a:xfrm>
          <a:prstGeom prst="rect">
            <a:avLst/>
          </a:prstGeom>
        </p:spPr>
      </p:pic>
      <p:sp>
        <p:nvSpPr>
          <p:cNvPr id="21" name="phone payer-confirm"/>
          <p:cNvSpPr/>
          <p:nvPr/>
        </p:nvSpPr>
        <p:spPr>
          <a:xfrm>
            <a:off x="9932213" y="1931213"/>
            <a:ext cx="1851948" cy="3818534"/>
          </a:xfrm>
          <a:prstGeom prst="roundRect">
            <a:avLst>
              <a:gd name="adj" fmla="val 13825"/>
            </a:avLst>
          </a:prstGeom>
          <a:solidFill>
            <a:srgbClr val="0B0B0C"/>
          </a:solidFill>
          <a:ln w="12700">
            <a:solidFill>
              <a:srgbClr val="4A3F57"/>
            </a:solidFill>
            <a:prstDash val="solid"/>
          </a:ln>
        </p:spPr>
      </p:sp>
      <p:pic>
        <p:nvPicPr>
          <p:cNvPr id="22" name="screen payer-confirm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2680" y="2011680"/>
            <a:ext cx="1691014" cy="36576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796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spc="200" kern="0" dirty="0">
                <a:solidFill>
                  <a:schemeClr val="accent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49808"/>
            <a:ext cx="11064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chemeClr val="bg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Offline is prepaid, </a:t>
            </a:r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rgbClr val="F7DA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never a promise.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566928" cy="566928"/>
          </a:xfrm>
          <a:prstGeom prst="ellipse">
            <a:avLst/>
          </a:prstGeom>
          <a:solidFill>
            <a:srgbClr val="F7DA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20A1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234440" y="2340864"/>
            <a:ext cx="1463040" cy="0"/>
          </a:xfrm>
          <a:prstGeom prst="line">
            <a:avLst/>
          </a:prstGeom>
          <a:noFill/>
          <a:ln w="19050">
            <a:solidFill>
              <a:srgbClr val="CB6CE6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548640" y="2788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Lock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1546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B4C2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USDC set aside in an on-chain vault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816352" y="2057400"/>
            <a:ext cx="566928" cy="566928"/>
          </a:xfrm>
          <a:prstGeom prst="ellipse">
            <a:avLst/>
          </a:prstGeom>
          <a:solidFill>
            <a:srgbClr val="F7DA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816352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20A1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502152" y="2340864"/>
            <a:ext cx="1463040" cy="0"/>
          </a:xfrm>
          <a:prstGeom prst="line">
            <a:avLst/>
          </a:prstGeom>
          <a:noFill/>
          <a:ln w="19050">
            <a:solidFill>
              <a:srgbClr val="CB6CE6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2816352" y="2788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Sign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2816352" y="31546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B4C2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The phone's secure chip signs the payment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84064" y="2057400"/>
            <a:ext cx="566928" cy="566928"/>
          </a:xfrm>
          <a:prstGeom prst="ellipse">
            <a:avLst/>
          </a:prstGeom>
          <a:solidFill>
            <a:srgbClr val="F7DA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084064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20A1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769864" y="2340864"/>
            <a:ext cx="1463040" cy="0"/>
          </a:xfrm>
          <a:prstGeom prst="line">
            <a:avLst/>
          </a:prstGeom>
          <a:noFill/>
          <a:ln w="19050">
            <a:solidFill>
              <a:srgbClr val="CB6CE6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5084064" y="2788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Hand over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084064" y="31546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B4C2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QR both ways, no network needed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51776" y="2057400"/>
            <a:ext cx="566928" cy="566928"/>
          </a:xfrm>
          <a:prstGeom prst="ellipse">
            <a:avLst/>
          </a:prstGeom>
          <a:solidFill>
            <a:srgbClr val="F7DA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51776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20A1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037576" y="2340864"/>
            <a:ext cx="1463040" cy="0"/>
          </a:xfrm>
          <a:prstGeom prst="line">
            <a:avLst/>
          </a:prstGeom>
          <a:noFill/>
          <a:ln w="19050">
            <a:solidFill>
              <a:srgbClr val="CB6CE6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7351776" y="2788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Verify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351776" y="31546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B4C2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Solana checks the chip's signature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619488" y="2057400"/>
            <a:ext cx="566928" cy="566928"/>
          </a:xfrm>
          <a:prstGeom prst="ellipse">
            <a:avLst/>
          </a:prstGeom>
          <a:solidFill>
            <a:srgbClr val="F7DA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619488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20A1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9619488" y="2788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Settle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9619488" y="31546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B4C2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USDC moves; nelo pays the fee</a:t>
            </a:r>
            <a:endParaRPr lang="en-US" sz="1300" dirty="0"/>
          </a:p>
        </p:txBody>
      </p:sp>
      <p:sp>
        <p:nvSpPr>
          <p:cNvPr id="28" name="why"/>
          <p:cNvSpPr/>
          <p:nvPr/>
        </p:nvSpPr>
        <p:spPr>
          <a:xfrm>
            <a:off x="548640" y="4160520"/>
            <a:ext cx="5394960" cy="1508760"/>
          </a:xfrm>
          <a:prstGeom prst="roundRect">
            <a:avLst>
              <a:gd name="adj" fmla="val 1090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2960" y="4480560"/>
            <a:ext cx="512064" cy="512064"/>
          </a:xfrm>
          <a:prstGeom prst="ellipse">
            <a:avLst/>
          </a:prstGeom>
          <a:solidFill>
            <a:srgbClr val="F7DAFF"/>
          </a:solidFill>
          <a:ln/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4608576"/>
            <a:ext cx="256032" cy="256032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1554480" y="434340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7DA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Only on a phone</a:t>
            </a:r>
            <a:endParaRPr lang="en-US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1554480" y="475488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A secure chip and a camera in one hand, at the counter.</a:t>
            </a:r>
            <a:endParaRPr lang="en-US" sz="1400" dirty="0"/>
          </a:p>
        </p:txBody>
      </p:sp>
      <p:sp>
        <p:nvSpPr>
          <p:cNvPr id="33" name="why"/>
          <p:cNvSpPr/>
          <p:nvPr/>
        </p:nvSpPr>
        <p:spPr>
          <a:xfrm>
            <a:off x="6217920" y="4160520"/>
            <a:ext cx="5394960" cy="1508760"/>
          </a:xfrm>
          <a:prstGeom prst="roundRect">
            <a:avLst>
              <a:gd name="adj" fmla="val 1090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492240" y="4480560"/>
            <a:ext cx="512064" cy="512064"/>
          </a:xfrm>
          <a:prstGeom prst="ellipse">
            <a:avLst/>
          </a:prstGeom>
          <a:solidFill>
            <a:srgbClr val="F7DAFF"/>
          </a:solidFill>
          <a:ln/>
        </p:spPr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56" y="4608576"/>
            <a:ext cx="256032" cy="256032"/>
          </a:xfrm>
          <a:prstGeom prst="rect">
            <a:avLst/>
          </a:prstGeom>
        </p:spPr>
      </p:pic>
      <p:sp>
        <p:nvSpPr>
          <p:cNvPr id="36" name="Text 32"/>
          <p:cNvSpPr txBox="1"/>
          <p:nvPr/>
        </p:nvSpPr>
        <p:spPr>
          <a:xfrm>
            <a:off x="7223760" y="434340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7DA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Only on Solana</a:t>
            </a:r>
            <a:endParaRPr lang="en-US" sz="1800" dirty="0"/>
          </a:p>
        </p:txBody>
      </p:sp>
      <p:sp>
        <p:nvSpPr>
          <p:cNvPr id="37" name="Text 33"/>
          <p:cNvSpPr txBox="1"/>
          <p:nvPr/>
        </p:nvSpPr>
        <p:spPr>
          <a:xfrm>
            <a:off x="7223760" y="475488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secp256r1 verifies the chip on chain; sub-cent fees make a ₦2,500 sale worth settling.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796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spc="200" kern="0" dirty="0">
                <a:solidFill>
                  <a:schemeClr val="accent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SKR INTEGRATION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49808"/>
            <a:ext cx="11064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chemeClr val="bg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SKR backs every offline payment.</a:t>
            </a:r>
            <a:endParaRPr lang="en-US" sz="3600" dirty="0"/>
          </a:p>
        </p:txBody>
      </p:sp>
      <p:sp>
        <p:nvSpPr>
          <p:cNvPr id="4" name="skr"/>
          <p:cNvSpPr/>
          <p:nvPr/>
        </p:nvSpPr>
        <p:spPr>
          <a:xfrm>
            <a:off x="548640" y="2057400"/>
            <a:ext cx="3474720" cy="3108960"/>
          </a:xfrm>
          <a:prstGeom prst="roundRect">
            <a:avLst>
              <a:gd name="adj" fmla="val 5294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331720"/>
            <a:ext cx="512064" cy="512064"/>
          </a:xfrm>
          <a:prstGeom prst="ellipse">
            <a:avLst/>
          </a:prstGeom>
          <a:solidFill>
            <a:srgbClr val="F7DA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459736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3017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7DA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Stake → higher limit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52044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Payers stake SKR to raise their offline spending limit. Sublinear, capped, revalued at every redemption.</a:t>
            </a:r>
            <a:endParaRPr lang="en-US" sz="1400" dirty="0"/>
          </a:p>
        </p:txBody>
      </p:sp>
      <p:sp>
        <p:nvSpPr>
          <p:cNvPr id="9" name="skr"/>
          <p:cNvSpPr/>
          <p:nvPr/>
        </p:nvSpPr>
        <p:spPr>
          <a:xfrm>
            <a:off x="4297680" y="2057400"/>
            <a:ext cx="3474720" cy="3108960"/>
          </a:xfrm>
          <a:prstGeom prst="roundRect">
            <a:avLst>
              <a:gd name="adj" fmla="val 5294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0" y="2331720"/>
            <a:ext cx="512064" cy="512064"/>
          </a:xfrm>
          <a:prstGeom prst="ellipse">
            <a:avLst/>
          </a:prstGeom>
          <a:solidFill>
            <a:srgbClr val="F7DA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016" y="2459736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72000" y="3017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7DA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Cheat → slashed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352044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A double spend freezes the vault and moves the staked SKR into the reserve. First-loss capital.</a:t>
            </a:r>
            <a:endParaRPr lang="en-US" sz="1400" dirty="0"/>
          </a:p>
        </p:txBody>
      </p:sp>
      <p:sp>
        <p:nvSpPr>
          <p:cNvPr id="14" name="skr"/>
          <p:cNvSpPr/>
          <p:nvPr/>
        </p:nvSpPr>
        <p:spPr>
          <a:xfrm>
            <a:off x="8046720" y="2057400"/>
            <a:ext cx="3474720" cy="3108960"/>
          </a:xfrm>
          <a:prstGeom prst="roundRect">
            <a:avLst>
              <a:gd name="adj" fmla="val 5294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21040" y="2331720"/>
            <a:ext cx="512064" cy="512064"/>
          </a:xfrm>
          <a:prstGeom prst="ellipse">
            <a:avLst/>
          </a:prstGeom>
          <a:solidFill>
            <a:srgbClr val="F7DA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056" y="2459736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21040" y="3017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7DA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Earn → in SKR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352044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Merchants can take volume rebates in staked SKR at a premium. Priced honestly: ≈1.001× today.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53949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7DA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Built: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Anchor program with stake, unstake and slash · 40/40 tests · live on devnet with a test mint for SKR · rebate payouts after launch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796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spc="200" kern="0" dirty="0">
                <a:solidFill>
                  <a:schemeClr val="accent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MARKET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49808"/>
            <a:ext cx="11064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chemeClr val="bg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$1.4T moves on phones. </a:t>
            </a:r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rgbClr val="F7DA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We start with 300.</a:t>
            </a:r>
            <a:endParaRPr lang="en-US" sz="3600" dirty="0"/>
          </a:p>
        </p:txBody>
      </p:sp>
      <p:sp>
        <p:nvSpPr>
          <p:cNvPr id="4" name="TAM tier"/>
          <p:cNvSpPr/>
          <p:nvPr/>
        </p:nvSpPr>
        <p:spPr>
          <a:xfrm>
            <a:off x="548640" y="2057400"/>
            <a:ext cx="5486400" cy="960120"/>
          </a:xfrm>
          <a:prstGeom prst="roundRect">
            <a:avLst>
              <a:gd name="adj" fmla="val 15238"/>
            </a:avLst>
          </a:prstGeom>
          <a:solidFill>
            <a:srgbClr val="CB6C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21671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7DA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TAM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$1.4T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2514600" y="2167128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Mobile money value, Sub-Saharan Africa, 2025</a:t>
            </a:r>
            <a:endParaRPr lang="en-US" sz="1200" dirty="0"/>
          </a:p>
        </p:txBody>
      </p:sp>
      <p:sp>
        <p:nvSpPr>
          <p:cNvPr id="8" name="SAM tier"/>
          <p:cNvSpPr/>
          <p:nvPr/>
        </p:nvSpPr>
        <p:spPr>
          <a:xfrm>
            <a:off x="548640" y="3136392"/>
            <a:ext cx="4572000" cy="960120"/>
          </a:xfrm>
          <a:prstGeom prst="roundRect">
            <a:avLst>
              <a:gd name="adj" fmla="val 15238"/>
            </a:avLst>
          </a:prstGeom>
          <a:solidFill>
            <a:srgbClr val="8A5C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32461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7DA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SAM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50215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$42B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2514600" y="32461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In-person business payments: Nigeria, then 9+ currencies via UseAzza</a:t>
            </a:r>
            <a:endParaRPr lang="en-US" sz="1200" dirty="0"/>
          </a:p>
        </p:txBody>
      </p:sp>
      <p:sp>
        <p:nvSpPr>
          <p:cNvPr id="12" name="SOM tier"/>
          <p:cNvSpPr/>
          <p:nvPr/>
        </p:nvSpPr>
        <p:spPr>
          <a:xfrm>
            <a:off x="548640" y="4215384"/>
            <a:ext cx="3657600" cy="960120"/>
          </a:xfrm>
          <a:prstGeom prst="roundRect">
            <a:avLst>
              <a:gd name="adj" fmla="val 15238"/>
            </a:avLst>
          </a:prstGeom>
          <a:solidFill>
            <a:srgbClr val="5B3FA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43251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7DA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SOM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58114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$39.2M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2514600" y="4325112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Year one: 300 businesses, 40% of takings on nelo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7DA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Who we serve</a:t>
            </a:r>
            <a:endParaRPr lang="en-US" sz="18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2505456"/>
            <a:ext cx="256032" cy="256032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7086600" y="246888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Market traders and shops</a:t>
            </a:r>
            <a:endParaRPr lang="en-US" sz="15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962656"/>
            <a:ext cx="256032" cy="256032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7086600" y="292608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Restaurants, food and beverage</a:t>
            </a:r>
            <a:endParaRPr lang="en-US" sz="15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3419856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7086600" y="338328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Logistics, couriers and taxis</a:t>
            </a:r>
            <a:endParaRPr lang="en-US" sz="15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3877056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086600" y="384048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Field services, on-site pros</a:t>
            </a:r>
            <a:endParaRPr lang="en-US" sz="15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4334256"/>
            <a:ext cx="256032" cy="25603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086600" y="429768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Fashion and luxury jewellery</a:t>
            </a:r>
            <a:endParaRPr lang="en-US" sz="150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0" y="4791456"/>
            <a:ext cx="256032" cy="256032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7086600" y="475488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Supermarkets, superstores, malls</a:t>
            </a:r>
            <a:endParaRPr lang="en-US" sz="1500" dirty="0"/>
          </a:p>
        </p:txBody>
      </p:sp>
      <p:sp>
        <p:nvSpPr>
          <p:cNvPr id="29" name="Text 21"/>
          <p:cNvSpPr txBox="1"/>
          <p:nvPr/>
        </p:nvSpPr>
        <p:spPr>
          <a:xfrm>
            <a:off x="548640" y="544068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DA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347M  </a:t>
            </a:r>
            <a:pPr indent="0" marL="0">
              <a:buNone/>
            </a:pPr>
            <a:r>
              <a:rPr lang="en-US" sz="1200" dirty="0">
                <a:solidFill>
                  <a:srgbClr val="B9B4C2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mobile money accounts in SSA</a:t>
            </a:r>
            <a:endParaRPr lang="en-US" sz="1500" dirty="0"/>
          </a:p>
        </p:txBody>
      </p:sp>
      <p:sp>
        <p:nvSpPr>
          <p:cNvPr id="30" name="Text 22"/>
          <p:cNvSpPr txBox="1"/>
          <p:nvPr/>
        </p:nvSpPr>
        <p:spPr>
          <a:xfrm>
            <a:off x="4297680" y="544068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DA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$650B  </a:t>
            </a:r>
            <a:pPr indent="0" marL="0">
              <a:buNone/>
            </a:pPr>
            <a:r>
              <a:rPr lang="en-US" sz="1200" dirty="0">
                <a:solidFill>
                  <a:srgbClr val="B9B4C2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stablecoins on Solana, Feb 2026</a:t>
            </a:r>
            <a:endParaRPr lang="en-US" sz="1500" dirty="0"/>
          </a:p>
        </p:txBody>
      </p:sp>
      <p:sp>
        <p:nvSpPr>
          <p:cNvPr id="31" name="Text 23"/>
          <p:cNvSpPr txBox="1"/>
          <p:nvPr/>
        </p:nvSpPr>
        <p:spPr>
          <a:xfrm>
            <a:off x="8046720" y="544068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DA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75%  </a:t>
            </a:r>
            <a:pPr indent="0" marL="0">
              <a:buNone/>
            </a:pPr>
            <a:r>
              <a:rPr lang="en-US" sz="1200" dirty="0">
                <a:solidFill>
                  <a:srgbClr val="B9B4C2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of merchants prefer stablecoins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548640" y="594360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C8796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GSMA 2026 · 2026 Solana stablecoin reporting · Deloitte 2025 · SAM and SOM are nelo estimates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796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spc="200" kern="0" dirty="0">
                <a:solidFill>
                  <a:schemeClr val="accent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BUSINESS MODEL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49808"/>
            <a:ext cx="11064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chemeClr val="bg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We earn on every payment. </a:t>
            </a:r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rgbClr val="F7DA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Both sides.</a:t>
            </a:r>
            <a:endParaRPr lang="en-US" sz="3600" dirty="0"/>
          </a:p>
        </p:txBody>
      </p:sp>
      <p:sp>
        <p:nvSpPr>
          <p:cNvPr id="4" name="rate"/>
          <p:cNvSpPr/>
          <p:nvPr/>
        </p:nvSpPr>
        <p:spPr>
          <a:xfrm>
            <a:off x="548640" y="2011680"/>
            <a:ext cx="5394960" cy="1600200"/>
          </a:xfrm>
          <a:prstGeom prst="roundRect">
            <a:avLst>
              <a:gd name="adj" fmla="val 10286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2140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7DA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0.61%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3520440" y="2240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net on business volume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260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B4C2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0.50% fee + 0.50% payout spread, less reserve and rebate</a:t>
            </a:r>
            <a:endParaRPr lang="en-US" sz="1300" dirty="0"/>
          </a:p>
        </p:txBody>
      </p:sp>
      <p:sp>
        <p:nvSpPr>
          <p:cNvPr id="8" name="rate"/>
          <p:cNvSpPr/>
          <p:nvPr/>
        </p:nvSpPr>
        <p:spPr>
          <a:xfrm>
            <a:off x="6217920" y="2011680"/>
            <a:ext cx="5394960" cy="1600200"/>
          </a:xfrm>
          <a:prstGeom prst="roundRect">
            <a:avLst>
              <a:gd name="adj" fmla="val 10286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212140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7DA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0.3–1.5%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9189720" y="2240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 nelo pay services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9260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B4C2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Paying a friend is live today at 0.3%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840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From month 6, nelo pay becomes the money app: in crypto, felt in naira</a:t>
            </a:r>
            <a:endParaRPr lang="en-US" sz="1600" dirty="0"/>
          </a:p>
        </p:txBody>
      </p:sp>
      <p:sp>
        <p:nvSpPr>
          <p:cNvPr id="13" name="service"/>
          <p:cNvSpPr/>
          <p:nvPr/>
        </p:nvSpPr>
        <p:spPr>
          <a:xfrm>
            <a:off x="548640" y="4343400"/>
            <a:ext cx="1737360" cy="1417320"/>
          </a:xfrm>
          <a:prstGeom prst="roundRect">
            <a:avLst>
              <a:gd name="adj" fmla="val 11613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4498848"/>
            <a:ext cx="438912" cy="438912"/>
          </a:xfrm>
          <a:prstGeom prst="ellipse">
            <a:avLst/>
          </a:prstGeom>
          <a:solidFill>
            <a:srgbClr val="F7DAFF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4608576"/>
            <a:ext cx="219456" cy="219456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731520" y="501091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Pay a friend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731520" y="532180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9B4C2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Live · 0.3%</a:t>
            </a:r>
            <a:endParaRPr lang="en-US" sz="1200" dirty="0"/>
          </a:p>
        </p:txBody>
      </p:sp>
      <p:sp>
        <p:nvSpPr>
          <p:cNvPr id="18" name="service"/>
          <p:cNvSpPr/>
          <p:nvPr/>
        </p:nvSpPr>
        <p:spPr>
          <a:xfrm>
            <a:off x="2414016" y="4343400"/>
            <a:ext cx="1737360" cy="1417320"/>
          </a:xfrm>
          <a:prstGeom prst="roundRect">
            <a:avLst>
              <a:gd name="adj" fmla="val 11613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596896" y="4498848"/>
            <a:ext cx="438912" cy="438912"/>
          </a:xfrm>
          <a:prstGeom prst="ellipse">
            <a:avLst/>
          </a:prstGeom>
          <a:solidFill>
            <a:srgbClr val="CB6CE6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6624" y="4608576"/>
            <a:ext cx="219456" cy="219456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2596896" y="501091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Cash out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2596896" y="532180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9B4C2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M7 · 0.75%</a:t>
            </a:r>
            <a:endParaRPr lang="en-US" sz="1200" dirty="0"/>
          </a:p>
        </p:txBody>
      </p:sp>
      <p:sp>
        <p:nvSpPr>
          <p:cNvPr id="23" name="service"/>
          <p:cNvSpPr/>
          <p:nvPr/>
        </p:nvSpPr>
        <p:spPr>
          <a:xfrm>
            <a:off x="4279392" y="4343400"/>
            <a:ext cx="1737360" cy="1417320"/>
          </a:xfrm>
          <a:prstGeom prst="roundRect">
            <a:avLst>
              <a:gd name="adj" fmla="val 11613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462272" y="4498848"/>
            <a:ext cx="438912" cy="438912"/>
          </a:xfrm>
          <a:prstGeom prst="ellipse">
            <a:avLst/>
          </a:prstGeom>
          <a:solidFill>
            <a:srgbClr val="CB6CE6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608576"/>
            <a:ext cx="219456" cy="219456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4462272" y="501091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Savings, yield</a:t>
            </a:r>
            <a:endParaRPr lang="en-US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4462272" y="532180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9B4C2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M9 · 1.5% of yield</a:t>
            </a:r>
            <a:endParaRPr lang="en-US" sz="1200" dirty="0"/>
          </a:p>
        </p:txBody>
      </p:sp>
      <p:sp>
        <p:nvSpPr>
          <p:cNvPr id="28" name="service"/>
          <p:cNvSpPr/>
          <p:nvPr/>
        </p:nvSpPr>
        <p:spPr>
          <a:xfrm>
            <a:off x="6144768" y="4343400"/>
            <a:ext cx="1737360" cy="1417320"/>
          </a:xfrm>
          <a:prstGeom prst="roundRect">
            <a:avLst>
              <a:gd name="adj" fmla="val 11613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6327648" y="4498848"/>
            <a:ext cx="438912" cy="438912"/>
          </a:xfrm>
          <a:prstGeom prst="ellipse">
            <a:avLst/>
          </a:prstGeom>
          <a:solidFill>
            <a:srgbClr val="CB6CE6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7376" y="4608576"/>
            <a:ext cx="219456" cy="219456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6327648" y="501091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Bill payments</a:t>
            </a:r>
            <a:endParaRPr lang="en-US" sz="1300" dirty="0"/>
          </a:p>
        </p:txBody>
      </p:sp>
      <p:sp>
        <p:nvSpPr>
          <p:cNvPr id="32" name="Text 26"/>
          <p:cNvSpPr txBox="1"/>
          <p:nvPr/>
        </p:nvSpPr>
        <p:spPr>
          <a:xfrm>
            <a:off x="6327648" y="532180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9B4C2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M10 · 1%</a:t>
            </a:r>
            <a:endParaRPr lang="en-US" sz="1200" dirty="0"/>
          </a:p>
        </p:txBody>
      </p:sp>
      <p:sp>
        <p:nvSpPr>
          <p:cNvPr id="33" name="service"/>
          <p:cNvSpPr/>
          <p:nvPr/>
        </p:nvSpPr>
        <p:spPr>
          <a:xfrm>
            <a:off x="8010144" y="4343400"/>
            <a:ext cx="1737360" cy="1417320"/>
          </a:xfrm>
          <a:prstGeom prst="roundRect">
            <a:avLst>
              <a:gd name="adj" fmla="val 11613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8193024" y="4498848"/>
            <a:ext cx="438912" cy="438912"/>
          </a:xfrm>
          <a:prstGeom prst="ellipse">
            <a:avLst/>
          </a:prstGeom>
          <a:solidFill>
            <a:srgbClr val="CB6CE6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2752" y="4608576"/>
            <a:ext cx="219456" cy="219456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8193024" y="501091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Stocks, RWAs</a:t>
            </a:r>
            <a:endParaRPr lang="en-US" sz="1300" dirty="0"/>
          </a:p>
        </p:txBody>
      </p:sp>
      <p:sp>
        <p:nvSpPr>
          <p:cNvPr id="37" name="Text 30"/>
          <p:cNvSpPr txBox="1"/>
          <p:nvPr/>
        </p:nvSpPr>
        <p:spPr>
          <a:xfrm>
            <a:off x="8193024" y="532180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9B4C2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M15 · 0.5%</a:t>
            </a:r>
            <a:endParaRPr lang="en-US" sz="1200" dirty="0"/>
          </a:p>
        </p:txBody>
      </p:sp>
      <p:sp>
        <p:nvSpPr>
          <p:cNvPr id="38" name="service"/>
          <p:cNvSpPr/>
          <p:nvPr/>
        </p:nvSpPr>
        <p:spPr>
          <a:xfrm>
            <a:off x="9875520" y="4343400"/>
            <a:ext cx="1737360" cy="1417320"/>
          </a:xfrm>
          <a:prstGeom prst="roundRect">
            <a:avLst>
              <a:gd name="adj" fmla="val 11613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10058400" y="4498848"/>
            <a:ext cx="438912" cy="438912"/>
          </a:xfrm>
          <a:prstGeom prst="ellipse">
            <a:avLst/>
          </a:prstGeom>
          <a:solidFill>
            <a:srgbClr val="CB6CE6"/>
          </a:solidFill>
          <a:ln/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8128" y="4608576"/>
            <a:ext cx="219456" cy="219456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10058400" y="501091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Agent API</a:t>
            </a:r>
            <a:endParaRPr lang="en-US" sz="1300" dirty="0"/>
          </a:p>
        </p:txBody>
      </p:sp>
      <p:sp>
        <p:nvSpPr>
          <p:cNvPr id="42" name="Text 34"/>
          <p:cNvSpPr txBox="1"/>
          <p:nvPr/>
        </p:nvSpPr>
        <p:spPr>
          <a:xfrm>
            <a:off x="10058400" y="532180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9B4C2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M18 · 0.5%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796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spc="200" kern="0" dirty="0">
                <a:solidFill>
                  <a:schemeClr val="accent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PROJECTION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49808"/>
            <a:ext cx="11064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chemeClr val="bg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$256K → $28.5M a year </a:t>
            </a:r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rgbClr val="F7DA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by year three.</a:t>
            </a:r>
            <a:endParaRPr lang="en-US" sz="3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2011680"/>
          <a:ext cx="53035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011680"/>
          <a:ext cx="53035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005840"/>
                <a:gridCol w="1005840"/>
                <a:gridCol w="10058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A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20A1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Year 1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A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20A1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Year 2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A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20A1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Year 3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A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Businesses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300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3K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25K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32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nelo pay users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12K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150K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1.5M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32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Payment volume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$39.2M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$392M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$3.3B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32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7DA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Revenue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7DA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$256K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7DA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$3.1M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7DA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$28.5M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32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From nelo pay + agents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7%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22%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3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30%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320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309360" y="493776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7DA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Year one: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100 businesses in 90 days, 300 by month 12, ~12K nelo pay users.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594360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C8796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Run-rate at year end · $895 blended daily takings, 40% on nelo · users 40/50/60 per business · illustrative, not a forecast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796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spc="200" kern="0" dirty="0">
                <a:solidFill>
                  <a:schemeClr val="accent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BUILDER AND NEXT STEPS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49808"/>
            <a:ext cx="11064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chemeClr val="bg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Built by a Solana operator. </a:t>
            </a:r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rgbClr val="F7DA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Shipped before.</a:t>
            </a:r>
            <a:endParaRPr lang="en-US" sz="3600" dirty="0"/>
          </a:p>
        </p:txBody>
      </p:sp>
      <p:pic>
        <p:nvPicPr>
          <p:cNvPr id="4" name="photo" descr="/tmp/claude-0/-home-user-nelo/62baa83b-cf36-5990-b8d0-35660399abf9/scratchpad/ref/img1_48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57400"/>
            <a:ext cx="1600200" cy="16276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377440" y="20574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Udoka A.M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2377440" y="2487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7DA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Founder · udokaam.dev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886200"/>
            <a:ext cx="5486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Led product at Zinari Finance (now Yativo): DeFi, NFTs and payments, $M+ processed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Regional DevRel, Superteam Nigeria: $40K community GDP in 5 months; a Colosseum winner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Solana Foundation grant: SprintIQ, since acquired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4,000+ developers reached across Africa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492240" y="20116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7DA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Roadmap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647688" y="2606040"/>
            <a:ext cx="0" cy="2286000"/>
          </a:xfrm>
          <a:prstGeom prst="line">
            <a:avLst/>
          </a:prstGeom>
          <a:noFill/>
          <a:ln w="19050">
            <a:solidFill>
              <a:srgbClr val="CB6C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37960" y="2551176"/>
            <a:ext cx="228600" cy="228600"/>
          </a:xfrm>
          <a:prstGeom prst="ellipse">
            <a:avLst/>
          </a:prstGeom>
          <a:solidFill>
            <a:srgbClr val="F7DAF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949440" y="24871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DA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Days 0–90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458200" y="24871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100 businesses, one Lagos cluster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537960" y="3236976"/>
            <a:ext cx="228600" cy="228600"/>
          </a:xfrm>
          <a:prstGeom prst="ellipse">
            <a:avLst/>
          </a:prstGeom>
          <a:solidFill>
            <a:srgbClr val="F7DAF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949440" y="31729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DA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Months 3–6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458200" y="31729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Vault audit; offline payments to mainnet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537960" y="3922776"/>
            <a:ext cx="228600" cy="228600"/>
          </a:xfrm>
          <a:prstGeom prst="ellipse">
            <a:avLst/>
          </a:prstGeom>
          <a:solidFill>
            <a:srgbClr val="F7DAF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949440" y="38587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DA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Months 6–12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8458200" y="38587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nelo pay services; 300 businesses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537960" y="4608576"/>
            <a:ext cx="228600" cy="228600"/>
          </a:xfrm>
          <a:prstGeom prst="ellipse">
            <a:avLst/>
          </a:prstGeom>
          <a:solidFill>
            <a:srgbClr val="F7DAFF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949440" y="45445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DA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Year 2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8458200" y="45445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Assets, agent API, new countries</a:t>
            </a:r>
            <a:endParaRPr lang="en-US" sz="1300" dirty="0"/>
          </a:p>
        </p:txBody>
      </p:sp>
      <p:sp>
        <p:nvSpPr>
          <p:cNvPr id="22" name="links"/>
          <p:cNvSpPr/>
          <p:nvPr/>
        </p:nvSpPr>
        <p:spPr>
          <a:xfrm>
            <a:off x="6492240" y="5166360"/>
            <a:ext cx="5120640" cy="685800"/>
          </a:xfrm>
          <a:prstGeom prst="roundRect">
            <a:avLst>
              <a:gd name="adj" fmla="val 24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675120" y="516636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github.com/Udoka-AM/nelo  ·  udoka-am.github.io/nelo  ·  Video: [link]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796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lo dark">
  <a:themeElements>
    <a:clrScheme name="nelo dark">
      <a:dk1>
        <a:srgbClr val="000000"/>
      </a:dk1>
      <a:lt1>
        <a:srgbClr val="FFFFFF"/>
      </a:lt1>
      <a:dk2>
        <a:srgbClr val="07050B"/>
      </a:dk2>
      <a:lt2>
        <a:srgbClr val="F7DAFF"/>
      </a:lt2>
      <a:accent1>
        <a:srgbClr val="F7DAFF"/>
      </a:accent1>
      <a:accent2>
        <a:srgbClr val="CB6CE6"/>
      </a:accent2>
      <a:accent3>
        <a:srgbClr val="8A5CF6"/>
      </a:accent3>
      <a:accent4>
        <a:srgbClr val="7AB4FF"/>
      </a:accent4>
      <a:accent5>
        <a:srgbClr val="B9B4C2"/>
      </a:accent5>
      <a:accent6>
        <a:srgbClr val="8C8796"/>
      </a:accent6>
      <a:hlink>
        <a:srgbClr val="F7DAFF"/>
      </a:hlink>
      <a:folHlink>
        <a:srgbClr val="CB6CE6"/>
      </a:folHlink>
    </a:clrScheme>
    <a:fontScheme name="nelo dark">
      <a:majorFont>
        <a:latin typeface="Montserrat Extra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nelo — pitch deck</dc:title>
  <dc:subject>PptxGenJS Presentation</dc:subject>
  <dc:creator>nelo</dc:creator>
  <cp:lastModifiedBy>nelo</cp:lastModifiedBy>
  <cp:revision>1</cp:revision>
  <dcterms:created xsi:type="dcterms:W3CDTF">2026-10-12T07:31:38Z</dcterms:created>
  <dcterms:modified xsi:type="dcterms:W3CDTF">2026-10-12T07:31:38Z</dcterms:modified>
</cp:coreProperties>
</file>